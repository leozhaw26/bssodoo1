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lbin: Idee und Prozesslandkarte" id="{53512535-40eb-6368-94a7-36abf553fc74}">
          <p14:sldIdLst>
            <p14:sldId id="256"/>
            <p14:sldId id="257"/>
            <p14:sldId id="258"/>
            <p14:sldId id="259"/>
            <p14:sldId id="260"/>
          </p14:sldIdLst>
        </p14:section>
        <p14:section name="Cem: Einkauf und Produktion" id="{8abaeec4-68fe-d692-eea4-2bf36a656c7d}">
          <p14:sldIdLst>
            <p14:sldId id="261"/>
            <p14:sldId id="262"/>
            <p14:sldId id="263"/>
          </p14:sldIdLst>
        </p14:section>
        <p14:section name="Leorat: CRM und Planung" id="{527c2a23-dcdc-7886-b157-70cd9171e6a6}">
          <p14:sldIdLst>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(ca. 20 Sekunden)
Guten Morgen zusammen. Wir sind Gruppe 4: Cem, Leorat und ich, Albin. Unsere Firma heisst Perlwerk, wir stellen Autopflegeprodukte her. Ich zeige euch zuerst die Geschäftsidee und die Prozesslandkarte, Cem übernimmt dann Einkauf und Produktion, und Leorat schliesst mit CRM, unserem Geschäftsvorfall und der Projektplanung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(ca. 1 Minute)
Wer sein Auto selbst wäscht, kauft heute Plastikflaschen, die grösstenteils Wasser enthalten und weit weg hergestellt werden. Perlwerk dreht das um: Wir mischen Konzentrate selbst in Winterthur. Man kauft die Flasche einmal und füllt sie nach – ein Liter Refill ergibt vier Flaschen. Das spart rund drei Viertel des Plastiks. Für Garagen und Waschanlagen gibt es Mehrweg-Kanister mit Pfand.
Der Name kommt vom Ergebnis, das jeder Autofan kennt: Auf frisch gepflegtem Lack perlt das Wasser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(ca. 45 Sekunden)
Wir haben zwei sehr unterschiedliche Kundengruppen, und das sieht man später in den Prozessen. Privatkundinnen und -kunden kaufen selbständig im Webshop, meistens zuerst ein Set und bleiben dann über das Abo. Betriebe wie Garagen oder Waschanlagen betreuen wir persönlich: Sie bekommen ein Musterset, danach ein Angebot mit eigener Preisliste und Kanister mit Pfand.
Im ERP laufen die beiden Gruppen über unterschiedliche Wege: B2C startet im Webshop, B2B im CRM. Am Ende treffen sich beide im Verkaufsauftrag.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(ca. 1 Minute)
Die Prozesslandkarte ist ein Wertschöpfungskettendiagramm, wie in der Grossklasse nach Gronau. Oben die Managementprozesse, unten die Supportprozesse, in der Mitte die Kernprozesse.
Die Kernprozesse lesen sich von links nach rechts – jeder ist Vorgänger des nächsten: Rohstoffe beschaffen, Chargen herstellen, Kunden gewinnen, Aufträge abwickeln und Kundenservice. Der Kundenservice ist gestrichelt, weil er eine Ausbaustufe ist.
Die zweite Ebene zeigt die hierarchische Zerlegung: «Aufträge abwickeln» besteht aus Bestellung prüfen, kommissionieren, versenden und Rechnung stellen. Genau das ist mein BPMN auf der nächsten Folie. Die Farben zeigen, wer verantwortlich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ALBIN (ca. 1 Minute)
Mein Prozess ist die Online-Bestellung, Typ «Auftrag bis Zahlungseingang» aus der Vorlesung. Die Kundschaft ist ein zugeklappter Pool, weil uns ihr interner Ablauf nicht interessiert; mit ihr reden wir nur über Nachrichtenflüsse.
Die bezahlte Bestellung startet den Prozess. Odoo legt den Verkaufsauftrag automatisch an – deshalb das Zahnrad – und schickt die Bestätigung. Dann prüft das Lager: Ist die Ware da? Wenn nein, rufen wir den Teilprozess von Cem auf, also die Produktion.
Danach kommt ein UND-Gateway: Lager und Buchhaltung arbeiten gleichzeitig. Das geht nur, weil Odoo Lieferschein und Rechnung aus demselben Auftrag erzeugt. Das zweite UND-Gateway wartet, bis beide fertig sind.
Übergabe: Cem zeigt euch jetzt, woher die Ware kommt.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CEM (ca. 1 Minute)
Ich bin für Einkauf, Lager und Produktion zuständig. Der erste Prozess ist die Beschaffung, Typ «Bestellung bis Bezahlung».
Gestartet wird er nicht von einem Menschen, sondern vom Lagerbestand: Fällt zum Beispiel das Tensid-Konzentrat unter 100 Kilo, erzeugt Odoo über eine Nachbestellregel selbst eine Anfrage. Der Einkauf prüft Preis und Liefertermin und bestellt.
Wenn die Lieferung kommt, prüft das Lager Menge und Charge. Ist etwas nicht in Ordnung, reklamieren wir, und die Ersatzlieferung durchläuft dieselbe Prüfung nochmals – das ist die Schleife über das zusammenführende XOR-Gateway. Am Ende gleicht die Buchhaltung die Rechnung mit Bestellung und Wareneingang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CEM (ca. 1 Minute)
Die Produktion ist der Kern von Perlwerk. Zuerst prüft die Planung anhand der Rezeptur, ob alle Rohstoffe da sind. Wenn nicht, rufen wir den Beschaffungsprozess von vorher auf – das ist die Aufgabe mit dem dicken Rand und dem Plus.
Dann wird gemischt, zum Beispiel 200 Liter Shampoo. Eine Probe wird auf pH-Wert und Zähflüssigkeit geprüft. Fällt sie durch, korrigieren wir und prüfen nochmals. Danach füllen wir 400 Flaschen ab, jede mit Charge und Haltbarkeitsdatum.
In Odoo ist die Rezeptur eine Stückliste mit Kilogramm und Gramm. Wenn der Fertigungsauftrag abgeschlossen wird, bucht Odoo gleichzeitig den Rohstoffverbrauch, den Lagerzugang und den Wert in der Buchhaltung.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CEM (ca. 45 Sekunden)
Im Scale-Up-Case verkauft MyOffice Stühle und Tische, also einfache Stückprodukte. Bei uns kommen sechs neue Aspekte dazu: Rezepturen statt Bauteillisten, Chargen mit Haltbarkeitsdatum und Auslieferung nach FEFO – das heisst, was zuerst abläuft, geht zuerst raus. Dazu die Umrechnung zwischen Fass, Kilo und Flasche, das Abo, zwei Kundengruppen in einem System und die Pfand-Kanister als Ausbaustufe.
Übergabe: Leorat zeigt jetzt, wie wir an die Firmenkunden kommen.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LEORAT (ca. 1 Minute)
Ich verantworte CRM und Marketing. Mein Hauptprozess ist «Firmenkunden gewinnen», Typ «Angebot bis Auftrag», der laut Vorlesung dem Auftragsprozess vorausgeht.
Eine Garage füllt das Formular aus, Odoo legt automatisch einen Lead an. Wir klären den Bedarf. Ist er gross genug, schickt das Lager ein Musterset, und der Verkauf erstellt ein Angebot mit der B2B-Preisliste.
Dann warten wir mit einem ereignisbasierten Gateway – wie im Pizza-Beispiel: Entweder kommt die Unterschrift, dann wird das Angebot zum Auftrag und geht in Albins Prozess, oder nach 14 Tagen ist die Chance verloren und wir erfassen den Grund.
Mein zweiter Prozess ist die Saisonkampagne Winterpflege mit Rabattcode; die findet ihr im Dokument.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LEORAT (ca. 45 Sekunden)
Für die Schlussabgabe brauchen wir einen Geschäftsvorfall über alle Bereiche. Wir planen einen Auftrag der Garage Huber AG über 12 Kanister Shampoo. Er startet bei mir im CRM, wird zum Auftrag bei Albin. Im Lager sind nur 4 Kanister, also produziert Cem eine neue Charge, und weil Tensid fehlt, wird zuerst nachbestellt. Danach werden alle 12 geliefert, die Buchhaltung stellt die Rechnung und erinnert nach 10 Tagen. Zum Schluss bekommt die Garage unser Saisonmailing. So kommt jeder Bereich mindestens einmal vor.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LEORAT (ca. 45 Sekunden)
Wir arbeiten in drei Sprints à vier Wochen. Sprint 1 ist abgeschlossen, im Moment sind wir in Sprint 2 mit Planung und Gruppeninstanz, Sprint 3 ist Customizing, Geschäftsvorfall und Dokumentation.
Jede Person hat neben ihrem Bereich eine Teamrolle: Albin koordiniert die Sprints, Cem administriert Odoo und führt das Konfigurationsprotokoll, ich kümmere mich um Redaktion und Abgabe. Wir treffen uns jeden Donnerstag, und eine Aufgabe gilt erst als erledigt, wenn eine zweite Person sie angeschaut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LEORAT (ca. 30 Sekunden)
Zum Schluss unsere vier offenen Fragen, die auch im Dokument stehen. [Fragen kurz vorlesen.] Vielen Dank – habt ihr Fragen an uns?
MÖGLICHE RÜCKFRAGEN (wer antwortet):
• Warum ist die Kundschaft im BPMN 1 zugeklappt? (Albin) – Ihr interner Ablauf ist für uns nicht relevant, wir kommunizieren nur über Nachrichten.
• Warum UND-Gateway statt nacheinander? (Albin) – Lieferschein und Rechnung entstehen aus demselben Auftrag, deshalb parallel.
• Was ist FEFO? (Cem) – First Expired, First Out: Die Charge mit dem frühesten Ablaufdatum wird zuerst ausgeliefert.
• Warum Beschaffung als Kernprozess? (Albin/Cem) – Ohne eigene Rohstoffe keine eigene Produktion; sie ist direkt Teil unserer Wertschöpfung.
• Unterschied ereignisbasiertes und XOR-Gateway? (Leorat) – XOR entscheidet anhand von Daten, das ereignisbasierte Gateway wartet, welches Ereignis zuerst eintritt.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_DUNKEL">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rgbClr val="FFFFFF"/>
        </a:solidFill>
      </p:bgPr>
    </p:bg>
    <p:spTree>
      <p:nvGrpSpPr>
        <p:cNvPr id="1" name=""/>
        <p:cNvGrpSpPr/>
        <p:nvPr/>
      </p:nvGrpSpPr>
      <p:grpSpPr>
        <a:xfrm>
          <a:off x="0" y="0"/>
          <a:ext cx="0" cy="0"/>
          <a:chOff x="0" y="0"/>
          <a:chExt cx="0" cy="0"/>
        </a:xfrm>
      </p:grpSpPr>
      <p:pic>
        <p:nvPicPr>
          <p:cNvPr id="2" name="Image 0" descr="/home/claude/work/logo/v2/Perlwerk_Logo_kompakt.png">    </p:cNvPr>
          <p:cNvPicPr>
            <a:picLocks noChangeAspect="1"/>
          </p:cNvPicPr>
          <p:nvPr/>
        </p:nvPicPr>
        <p:blipFill>
          <a:blip r:embed="rId1"/>
          <a:stretch>
            <a:fillRect/>
          </a:stretch>
        </p:blipFill>
        <p:spPr>
          <a:xfrm>
            <a:off x="457200" y="4736592"/>
            <a:ext cx="896112" cy="233172"/>
          </a:xfrm>
          <a:prstGeom prst="rect">
            <a:avLst/>
          </a:prstGeom>
        </p:spPr>
      </p:pic>
      <p:sp>
        <p:nvSpPr>
          <p:cNvPr id="3" name="Text 0"/>
          <p:cNvSpPr txBox="1"/>
          <p:nvPr/>
        </p:nvSpPr>
        <p:spPr>
          <a:xfrm>
            <a:off x="2743200" y="4718304"/>
            <a:ext cx="3657600" cy="274320"/>
          </a:xfrm>
          <a:prstGeom prst="rect">
            <a:avLst/>
          </a:prstGeom>
          <a:noFill/>
          <a:ln/>
        </p:spPr>
        <p:txBody>
          <a:bodyPr wrap="square" rtlCol="0" anchor="ctr"/>
          <a:lstStyle/>
          <a:p>
            <a:pPr algn="ctr" indent="0" marL="0">
              <a:buNone/>
            </a:pPr>
            <a:r>
              <a:rPr lang="en-US" sz="900" dirty="0">
                <a:solidFill>
                  <a:srgbClr val="5B6474"/>
                </a:solidFill>
              </a:rPr>
              <a:t>Planungsdokument · Gruppe 04 · w4t22b</a:t>
            </a:r>
            <a:endParaRPr lang="en-US" sz="900" dirty="0"/>
          </a:p>
        </p:txBody>
      </p:sp>
      <p:sp>
        <p:nvSpPr>
          <p:cNvPr id="4" name="Text 1"/>
          <p:cNvSpPr/>
          <p:nvPr>
            <p:ph idx="102" type="title" hasCustomPrompt="1"/>
          </p:nvPr>
        </p:nvSpPr>
        <p:spPr>
          <a:xfrm>
            <a:off x="457200" y="274320"/>
            <a:ext cx="6949440" cy="685800"/>
          </a:xfrm>
          <a:prstGeom prst="rect">
            <a:avLst/>
          </a:prstGeom>
          <a:noFill/>
          <a:ln/>
        </p:spPr>
        <p:txBody>
          <a:bodyPr wrap="square" rtlCol="0"/>
          <a:lstStyle>
            <a:lvl1pPr algn="l" indent="0" marL="0">
              <a:buNone/>
              <a:defRPr lang="en-US" sz="2600" b="1" dirty="0">
                <a:solidFill>
                  <a:srgbClr val="14213D"/>
                </a:solidFill>
              </a:defRPr>
            </a:lvl1pPr>
          </a:lstStyle>
          <a:p>
            <a:pPr algn="l" indent="0" marL="0">
              <a:buNone/>
            </a:pPr>
            <a:endParaRPr lang="en-US" sz="26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home/claude/work/logo/v2/Perlwerk_Logo_transparent_hell.png">    </p:cNvPr>
          <p:cNvPicPr>
            <a:picLocks noChangeAspect="1"/>
          </p:cNvPicPr>
          <p:nvPr/>
        </p:nvPicPr>
        <p:blipFill>
          <a:blip r:embed="rId1"/>
          <a:stretch>
            <a:fillRect/>
          </a:stretch>
        </p:blipFill>
        <p:spPr>
          <a:xfrm>
            <a:off x="457200" y="685800"/>
            <a:ext cx="4754880" cy="1426464"/>
          </a:xfrm>
          <a:prstGeom prst="rect">
            <a:avLst/>
          </a:prstGeom>
        </p:spPr>
      </p:pic>
      <p:sp>
        <p:nvSpPr>
          <p:cNvPr id="3" name="Text 0"/>
          <p:cNvSpPr txBox="1"/>
          <p:nvPr/>
        </p:nvSpPr>
        <p:spPr>
          <a:xfrm>
            <a:off x="685800" y="2514600"/>
            <a:ext cx="7772400" cy="548640"/>
          </a:xfrm>
          <a:prstGeom prst="rect">
            <a:avLst/>
          </a:prstGeom>
          <a:noFill/>
          <a:ln/>
        </p:spPr>
        <p:txBody>
          <a:bodyPr wrap="square" lIns="0" tIns="0" rIns="0" bIns="0" rtlCol="0" anchor="ctr"/>
          <a:lstStyle/>
          <a:p>
            <a:pPr indent="0" marL="0">
              <a:buNone/>
            </a:pPr>
            <a:r>
              <a:rPr lang="en-US" sz="3000" b="1" dirty="0">
                <a:solidFill>
                  <a:srgbClr val="FFFFFF"/>
                </a:solidFill>
              </a:rPr>
              <a:t>Planungsdokument zur Gruppenarbeit</a:t>
            </a:r>
            <a:endParaRPr lang="en-US" sz="3000" dirty="0"/>
          </a:p>
        </p:txBody>
      </p:sp>
      <p:sp>
        <p:nvSpPr>
          <p:cNvPr id="4" name="Text 1"/>
          <p:cNvSpPr txBox="1"/>
          <p:nvPr/>
        </p:nvSpPr>
        <p:spPr>
          <a:xfrm>
            <a:off x="685800" y="3063240"/>
            <a:ext cx="7772400" cy="365760"/>
          </a:xfrm>
          <a:prstGeom prst="rect">
            <a:avLst/>
          </a:prstGeom>
          <a:noFill/>
          <a:ln/>
        </p:spPr>
        <p:txBody>
          <a:bodyPr wrap="square" lIns="0" tIns="0" rIns="0" bIns="0" rtlCol="0" anchor="ctr"/>
          <a:lstStyle/>
          <a:p>
            <a:pPr indent="0" marL="0">
              <a:buNone/>
            </a:pPr>
            <a:r>
              <a:rPr lang="en-US" sz="1500" dirty="0">
                <a:solidFill>
                  <a:srgbClr val="9CCBF5"/>
                </a:solidFill>
              </a:rPr>
              <a:t>Betriebliche Standard-Software · Gruppe 04 · w4t22b · HS 2026</a:t>
            </a:r>
            <a:endParaRPr lang="en-US" sz="1500" dirty="0"/>
          </a:p>
        </p:txBody>
      </p:sp>
      <p:sp>
        <p:nvSpPr>
          <p:cNvPr id="5" name="Text 2"/>
          <p:cNvSpPr txBox="1"/>
          <p:nvPr/>
        </p:nvSpPr>
        <p:spPr>
          <a:xfrm>
            <a:off x="685800" y="3931920"/>
            <a:ext cx="2560320" cy="548640"/>
          </a:xfrm>
          <a:prstGeom prst="rect">
            <a:avLst/>
          </a:prstGeom>
          <a:noFill/>
          <a:ln/>
        </p:spPr>
        <p:txBody>
          <a:bodyPr wrap="square" lIns="0" tIns="0" rIns="0" bIns="0" rtlCol="0" anchor="t"/>
          <a:lstStyle/>
          <a:p>
            <a:pPr indent="0" marL="0">
              <a:buNone/>
            </a:pPr>
            <a:r>
              <a:rPr lang="en-US" sz="1300" b="1" dirty="0">
                <a:solidFill>
                  <a:srgbClr val="FFFFFF"/>
                </a:solidFill>
              </a:rPr>
              <a:t>Albin Ahmetaj</a:t>
            </a:r>
            <a:endParaRPr lang="en-US" sz="1300" dirty="0"/>
          </a:p>
          <a:p>
            <a:pPr indent="0" marL="0">
              <a:buNone/>
            </a:pPr>
            <a:r>
              <a:rPr lang="en-US" sz="1300" dirty="0">
                <a:solidFill>
                  <a:srgbClr val="9CCBF5"/>
                </a:solidFill>
              </a:rPr>
              <a:t>Verkauf &amp; E-Commerce</a:t>
            </a:r>
            <a:endParaRPr lang="en-US" sz="1300" dirty="0"/>
          </a:p>
        </p:txBody>
      </p:sp>
      <p:sp>
        <p:nvSpPr>
          <p:cNvPr id="6" name="Text 3"/>
          <p:cNvSpPr txBox="1"/>
          <p:nvPr/>
        </p:nvSpPr>
        <p:spPr>
          <a:xfrm>
            <a:off x="3337560" y="3931920"/>
            <a:ext cx="2560320" cy="548640"/>
          </a:xfrm>
          <a:prstGeom prst="rect">
            <a:avLst/>
          </a:prstGeom>
          <a:noFill/>
          <a:ln/>
        </p:spPr>
        <p:txBody>
          <a:bodyPr wrap="square" lIns="0" tIns="0" rIns="0" bIns="0" rtlCol="0" anchor="t"/>
          <a:lstStyle/>
          <a:p>
            <a:pPr indent="0" marL="0">
              <a:buNone/>
            </a:pPr>
            <a:r>
              <a:rPr lang="en-US" sz="1300" b="1" dirty="0">
                <a:solidFill>
                  <a:srgbClr val="FFFFFF"/>
                </a:solidFill>
              </a:rPr>
              <a:t>Cem Durdu</a:t>
            </a:r>
            <a:endParaRPr lang="en-US" sz="1300" dirty="0"/>
          </a:p>
          <a:p>
            <a:pPr indent="0" marL="0">
              <a:buNone/>
            </a:pPr>
            <a:r>
              <a:rPr lang="en-US" sz="1300" dirty="0">
                <a:solidFill>
                  <a:srgbClr val="9CCBF5"/>
                </a:solidFill>
              </a:rPr>
              <a:t>Einkauf, Lager &amp; Produktion</a:t>
            </a:r>
            <a:endParaRPr lang="en-US" sz="1300" dirty="0"/>
          </a:p>
        </p:txBody>
      </p:sp>
      <p:sp>
        <p:nvSpPr>
          <p:cNvPr id="7" name="Text 4"/>
          <p:cNvSpPr txBox="1"/>
          <p:nvPr/>
        </p:nvSpPr>
        <p:spPr>
          <a:xfrm>
            <a:off x="5989320" y="3931920"/>
            <a:ext cx="2560320" cy="548640"/>
          </a:xfrm>
          <a:prstGeom prst="rect">
            <a:avLst/>
          </a:prstGeom>
          <a:noFill/>
          <a:ln/>
        </p:spPr>
        <p:txBody>
          <a:bodyPr wrap="square" lIns="0" tIns="0" rIns="0" bIns="0" rtlCol="0" anchor="t"/>
          <a:lstStyle/>
          <a:p>
            <a:pPr indent="0" marL="0">
              <a:buNone/>
            </a:pPr>
            <a:r>
              <a:rPr lang="en-US" sz="1300" b="1" dirty="0">
                <a:solidFill>
                  <a:srgbClr val="FFFFFF"/>
                </a:solidFill>
              </a:rPr>
              <a:t>Leorat Krasniqi</a:t>
            </a:r>
            <a:endParaRPr lang="en-US" sz="1300" dirty="0"/>
          </a:p>
          <a:p>
            <a:pPr indent="0" marL="0">
              <a:buNone/>
            </a:pPr>
            <a:r>
              <a:rPr lang="en-US" sz="1300" dirty="0">
                <a:solidFill>
                  <a:srgbClr val="9CCBF5"/>
                </a:solidFill>
              </a:rPr>
              <a:t>CRM &amp; Marketing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Autopflege, die man nachfüllt</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Albin</a:t>
            </a:r>
            <a:endParaRPr lang="en-US" sz="1000" dirty="0"/>
          </a:p>
        </p:txBody>
      </p:sp>
      <p:sp>
        <p:nvSpPr>
          <p:cNvPr id="4" name="Text 2"/>
          <p:cNvSpPr txBox="1"/>
          <p:nvPr/>
        </p:nvSpPr>
        <p:spPr>
          <a:xfrm>
            <a:off x="457200" y="1188720"/>
            <a:ext cx="4206240" cy="2377440"/>
          </a:xfrm>
          <a:prstGeom prst="rect">
            <a:avLst/>
          </a:prstGeom>
          <a:noFill/>
          <a:ln/>
        </p:spPr>
        <p:txBody>
          <a:bodyPr wrap="square" lIns="0" tIns="0" rIns="0" bIns="0" rtlCol="0" anchor="t"/>
          <a:lstStyle/>
          <a:p>
            <a:pPr indent="0" marL="0">
              <a:buNone/>
            </a:pPr>
            <a:r>
              <a:rPr lang="en-US" sz="1600" dirty="0">
                <a:solidFill>
                  <a:srgbClr val="14213D"/>
                </a:solidFill>
              </a:rPr>
              <a:t>Perlwerk mischt Autopflegemittel als Konzentrat in einer eigenen kleinen Produktion in Winterthur.</a:t>
            </a:r>
            <a:endParaRPr lang="en-US" sz="1600" dirty="0"/>
          </a:p>
          <a:p>
            <a:pPr indent="0" marL="0">
              <a:buNone/>
            </a:pPr>
            <a:r>
              <a:rPr lang="en-US" sz="800" dirty="0">
                <a:solidFill>
                  <a:srgbClr val="14213D"/>
                </a:solidFill>
              </a:rPr>
              <a:t> </a:t>
            </a:r>
            <a:endParaRPr lang="en-US" sz="1600" dirty="0"/>
          </a:p>
          <a:p>
            <a:pPr indent="0" marL="0">
              <a:buNone/>
            </a:pPr>
            <a:r>
              <a:rPr lang="en-US" sz="1600" dirty="0">
                <a:solidFill>
                  <a:srgbClr val="14213D"/>
                </a:solidFill>
              </a:rPr>
              <a:t>Privatkundschaft kauft eine Flasche einmal und füllt sie danach selbst nach, auf Wunsch im Abo.</a:t>
            </a:r>
            <a:endParaRPr lang="en-US" sz="1600" dirty="0"/>
          </a:p>
          <a:p>
            <a:pPr indent="0" marL="0">
              <a:buNone/>
            </a:pPr>
            <a:r>
              <a:rPr lang="en-US" sz="800" dirty="0">
                <a:solidFill>
                  <a:srgbClr val="14213D"/>
                </a:solidFill>
              </a:rPr>
              <a:t> </a:t>
            </a:r>
            <a:endParaRPr lang="en-US" sz="1600" dirty="0"/>
          </a:p>
          <a:p>
            <a:pPr indent="0" marL="0">
              <a:buNone/>
            </a:pPr>
            <a:r>
              <a:rPr lang="en-US" sz="1600" dirty="0">
                <a:solidFill>
                  <a:srgbClr val="14213D"/>
                </a:solidFill>
              </a:rPr>
              <a:t>Garagen und Waschanlagen erhalten Kanister, die sie gegen Pfand zurückgeben.</a:t>
            </a:r>
            <a:endParaRPr lang="en-US" sz="1600" dirty="0"/>
          </a:p>
        </p:txBody>
      </p:sp>
      <p:sp>
        <p:nvSpPr>
          <p:cNvPr id="5" name="Text 3"/>
          <p:cNvSpPr txBox="1"/>
          <p:nvPr/>
        </p:nvSpPr>
        <p:spPr>
          <a:xfrm>
            <a:off x="457200" y="3749040"/>
            <a:ext cx="4206240" cy="457200"/>
          </a:xfrm>
          <a:prstGeom prst="rect">
            <a:avLst/>
          </a:prstGeom>
          <a:noFill/>
          <a:ln/>
        </p:spPr>
        <p:txBody>
          <a:bodyPr wrap="square" lIns="0" tIns="0" rIns="0" bIns="0" rtlCol="0" anchor="ctr"/>
          <a:lstStyle/>
          <a:p>
            <a:pPr indent="0" marL="0">
              <a:buNone/>
            </a:pPr>
            <a:r>
              <a:rPr lang="en-US" sz="1300" i="1" dirty="0">
                <a:solidFill>
                  <a:srgbClr val="1F5FA8"/>
                </a:solidFill>
              </a:rPr>
              <a:t>Name = Ergebnis: Auf gepflegtem Lack perlt das Wasser ab.</a:t>
            </a:r>
            <a:endParaRPr lang="en-US" sz="1300" dirty="0"/>
          </a:p>
        </p:txBody>
      </p:sp>
      <p:sp>
        <p:nvSpPr>
          <p:cNvPr id="6" name="Karte 0"/>
          <p:cNvSpPr/>
          <p:nvPr/>
        </p:nvSpPr>
        <p:spPr>
          <a:xfrm>
            <a:off x="5029200" y="1143000"/>
            <a:ext cx="3657600" cy="868680"/>
          </a:xfrm>
          <a:prstGeom prst="roundRect">
            <a:avLst>
              <a:gd name="adj" fmla="val 8421"/>
            </a:avLst>
          </a:prstGeom>
          <a:solidFill>
            <a:srgbClr val="E8F1FB"/>
          </a:solidFill>
          <a:ln w="12700">
            <a:solidFill>
              <a:srgbClr val="E8F1FB"/>
            </a:solidFill>
            <a:prstDash val="solid"/>
          </a:ln>
        </p:spPr>
      </p:sp>
      <p:sp>
        <p:nvSpPr>
          <p:cNvPr id="7" name="Stat 0 Kreis"/>
          <p:cNvSpPr/>
          <p:nvPr/>
        </p:nvSpPr>
        <p:spPr>
          <a:xfrm>
            <a:off x="5193792" y="1298448"/>
            <a:ext cx="548640" cy="548640"/>
          </a:xfrm>
          <a:prstGeom prst="ellipse">
            <a:avLst/>
          </a:prstGeom>
          <a:solidFill>
            <a:srgbClr val="1F5FA8"/>
          </a:solidFill>
          <a:ln w="12700">
            <a:solidFill>
              <a:srgbClr val="1F5FA8"/>
            </a:solidFill>
            <a:prstDash val="solid"/>
          </a:ln>
        </p:spPr>
      </p:sp>
      <p:pic>
        <p:nvPicPr>
          <p:cNvPr id="8" name="Stat 0 Icon" descr="preencoded.png">    </p:cNvPr>
          <p:cNvPicPr>
            <a:picLocks noChangeAspect="1"/>
          </p:cNvPicPr>
          <p:nvPr/>
        </p:nvPicPr>
        <p:blipFill>
          <a:blip r:embed="rId1"/>
          <a:stretch>
            <a:fillRect/>
          </a:stretch>
        </p:blipFill>
        <p:spPr>
          <a:xfrm>
            <a:off x="5330952" y="1435608"/>
            <a:ext cx="274320" cy="274320"/>
          </a:xfrm>
          <a:prstGeom prst="rect">
            <a:avLst/>
          </a:prstGeom>
        </p:spPr>
      </p:pic>
      <p:sp>
        <p:nvSpPr>
          <p:cNvPr id="9" name="Text 6"/>
          <p:cNvSpPr txBox="1"/>
          <p:nvPr/>
        </p:nvSpPr>
        <p:spPr>
          <a:xfrm>
            <a:off x="5897880" y="1252728"/>
            <a:ext cx="2697480" cy="365760"/>
          </a:xfrm>
          <a:prstGeom prst="rect">
            <a:avLst/>
          </a:prstGeom>
          <a:noFill/>
          <a:ln/>
        </p:spPr>
        <p:txBody>
          <a:bodyPr wrap="square" lIns="0" tIns="0" rIns="0" bIns="0" rtlCol="0" anchor="ctr"/>
          <a:lstStyle/>
          <a:p>
            <a:pPr indent="0" marL="0">
              <a:buNone/>
            </a:pPr>
            <a:r>
              <a:rPr lang="en-US" sz="1600" b="1" dirty="0">
                <a:solidFill>
                  <a:srgbClr val="14213D"/>
                </a:solidFill>
              </a:rPr>
              <a:t>1 l Refill = 4 Flaschen</a:t>
            </a:r>
            <a:endParaRPr lang="en-US" sz="1600" dirty="0"/>
          </a:p>
        </p:txBody>
      </p:sp>
      <p:sp>
        <p:nvSpPr>
          <p:cNvPr id="10" name="Text 7"/>
          <p:cNvSpPr txBox="1"/>
          <p:nvPr/>
        </p:nvSpPr>
        <p:spPr>
          <a:xfrm>
            <a:off x="5897880" y="1600200"/>
            <a:ext cx="2697480" cy="292608"/>
          </a:xfrm>
          <a:prstGeom prst="rect">
            <a:avLst/>
          </a:prstGeom>
          <a:noFill/>
          <a:ln/>
        </p:spPr>
        <p:txBody>
          <a:bodyPr wrap="square" lIns="0" tIns="0" rIns="0" bIns="0" rtlCol="0" anchor="ctr"/>
          <a:lstStyle/>
          <a:p>
            <a:pPr indent="0" marL="0">
              <a:buNone/>
            </a:pPr>
            <a:r>
              <a:rPr lang="en-US" sz="1200" dirty="0">
                <a:solidFill>
                  <a:srgbClr val="5B6474"/>
                </a:solidFill>
              </a:rPr>
              <a:t>rund 75 % weniger Plastik pro Liter</a:t>
            </a:r>
            <a:endParaRPr lang="en-US" sz="1200" dirty="0"/>
          </a:p>
        </p:txBody>
      </p:sp>
      <p:sp>
        <p:nvSpPr>
          <p:cNvPr id="11" name="Karte 1"/>
          <p:cNvSpPr/>
          <p:nvPr/>
        </p:nvSpPr>
        <p:spPr>
          <a:xfrm>
            <a:off x="5029200" y="2194560"/>
            <a:ext cx="3657600" cy="868680"/>
          </a:xfrm>
          <a:prstGeom prst="roundRect">
            <a:avLst>
              <a:gd name="adj" fmla="val 8421"/>
            </a:avLst>
          </a:prstGeom>
          <a:solidFill>
            <a:srgbClr val="E8F1FB"/>
          </a:solidFill>
          <a:ln w="12700">
            <a:solidFill>
              <a:srgbClr val="E8F1FB"/>
            </a:solidFill>
            <a:prstDash val="solid"/>
          </a:ln>
        </p:spPr>
      </p:sp>
      <p:sp>
        <p:nvSpPr>
          <p:cNvPr id="12" name="Stat 1 Kreis"/>
          <p:cNvSpPr/>
          <p:nvPr/>
        </p:nvSpPr>
        <p:spPr>
          <a:xfrm>
            <a:off x="5193792" y="2350008"/>
            <a:ext cx="548640" cy="548640"/>
          </a:xfrm>
          <a:prstGeom prst="ellipse">
            <a:avLst/>
          </a:prstGeom>
          <a:solidFill>
            <a:srgbClr val="1F5FA8"/>
          </a:solidFill>
          <a:ln w="12700">
            <a:solidFill>
              <a:srgbClr val="1F5FA8"/>
            </a:solidFill>
            <a:prstDash val="solid"/>
          </a:ln>
        </p:spPr>
      </p:sp>
      <p:pic>
        <p:nvPicPr>
          <p:cNvPr id="13" name="Stat 1 Icon" descr="preencoded.png">    </p:cNvPr>
          <p:cNvPicPr>
            <a:picLocks noChangeAspect="1"/>
          </p:cNvPicPr>
          <p:nvPr/>
        </p:nvPicPr>
        <p:blipFill>
          <a:blip r:embed="rId2"/>
          <a:stretch>
            <a:fillRect/>
          </a:stretch>
        </p:blipFill>
        <p:spPr>
          <a:xfrm>
            <a:off x="5330952" y="2487168"/>
            <a:ext cx="274320" cy="274320"/>
          </a:xfrm>
          <a:prstGeom prst="rect">
            <a:avLst/>
          </a:prstGeom>
        </p:spPr>
      </p:pic>
      <p:sp>
        <p:nvSpPr>
          <p:cNvPr id="14" name="Text 10"/>
          <p:cNvSpPr txBox="1"/>
          <p:nvPr/>
        </p:nvSpPr>
        <p:spPr>
          <a:xfrm>
            <a:off x="5897880" y="2304288"/>
            <a:ext cx="2697480" cy="365760"/>
          </a:xfrm>
          <a:prstGeom prst="rect">
            <a:avLst/>
          </a:prstGeom>
          <a:noFill/>
          <a:ln/>
        </p:spPr>
        <p:txBody>
          <a:bodyPr wrap="square" lIns="0" tIns="0" rIns="0" bIns="0" rtlCol="0" anchor="ctr"/>
          <a:lstStyle/>
          <a:p>
            <a:pPr indent="0" marL="0">
              <a:buNone/>
            </a:pPr>
            <a:r>
              <a:rPr lang="en-US" sz="1600" b="1" dirty="0">
                <a:solidFill>
                  <a:srgbClr val="14213D"/>
                </a:solidFill>
              </a:rPr>
              <a:t>Eigene Rezepturen</a:t>
            </a:r>
            <a:endParaRPr lang="en-US" sz="1600" dirty="0"/>
          </a:p>
        </p:txBody>
      </p:sp>
      <p:sp>
        <p:nvSpPr>
          <p:cNvPr id="15" name="Text 11"/>
          <p:cNvSpPr txBox="1"/>
          <p:nvPr/>
        </p:nvSpPr>
        <p:spPr>
          <a:xfrm>
            <a:off x="5897880" y="2651760"/>
            <a:ext cx="2697480" cy="292608"/>
          </a:xfrm>
          <a:prstGeom prst="rect">
            <a:avLst/>
          </a:prstGeom>
          <a:noFill/>
          <a:ln/>
        </p:spPr>
        <p:txBody>
          <a:bodyPr wrap="square" lIns="0" tIns="0" rIns="0" bIns="0" rtlCol="0" anchor="ctr"/>
          <a:lstStyle/>
          <a:p>
            <a:pPr indent="0" marL="0">
              <a:buNone/>
            </a:pPr>
            <a:r>
              <a:rPr lang="en-US" sz="1200" dirty="0">
                <a:solidFill>
                  <a:srgbClr val="5B6474"/>
                </a:solidFill>
              </a:rPr>
              <a:t>Chargen mit Haltbarkeitsdatum</a:t>
            </a:r>
            <a:endParaRPr lang="en-US" sz="1200" dirty="0"/>
          </a:p>
        </p:txBody>
      </p:sp>
      <p:sp>
        <p:nvSpPr>
          <p:cNvPr id="16" name="Karte 2"/>
          <p:cNvSpPr/>
          <p:nvPr/>
        </p:nvSpPr>
        <p:spPr>
          <a:xfrm>
            <a:off x="5029200" y="3246120"/>
            <a:ext cx="3657600" cy="868680"/>
          </a:xfrm>
          <a:prstGeom prst="roundRect">
            <a:avLst>
              <a:gd name="adj" fmla="val 8421"/>
            </a:avLst>
          </a:prstGeom>
          <a:solidFill>
            <a:srgbClr val="E8F1FB"/>
          </a:solidFill>
          <a:ln w="12700">
            <a:solidFill>
              <a:srgbClr val="E8F1FB"/>
            </a:solidFill>
            <a:prstDash val="solid"/>
          </a:ln>
        </p:spPr>
      </p:sp>
      <p:sp>
        <p:nvSpPr>
          <p:cNvPr id="17" name="Stat 2 Kreis"/>
          <p:cNvSpPr/>
          <p:nvPr/>
        </p:nvSpPr>
        <p:spPr>
          <a:xfrm>
            <a:off x="5193792" y="3401568"/>
            <a:ext cx="548640" cy="548640"/>
          </a:xfrm>
          <a:prstGeom prst="ellipse">
            <a:avLst/>
          </a:prstGeom>
          <a:solidFill>
            <a:srgbClr val="1F5FA8"/>
          </a:solidFill>
          <a:ln w="12700">
            <a:solidFill>
              <a:srgbClr val="1F5FA8"/>
            </a:solidFill>
            <a:prstDash val="solid"/>
          </a:ln>
        </p:spPr>
      </p:sp>
      <p:pic>
        <p:nvPicPr>
          <p:cNvPr id="18" name="Stat 2 Icon" descr="preencoded.png">    </p:cNvPr>
          <p:cNvPicPr>
            <a:picLocks noChangeAspect="1"/>
          </p:cNvPicPr>
          <p:nvPr/>
        </p:nvPicPr>
        <p:blipFill>
          <a:blip r:embed="rId3"/>
          <a:stretch>
            <a:fillRect/>
          </a:stretch>
        </p:blipFill>
        <p:spPr>
          <a:xfrm>
            <a:off x="5330952" y="3538728"/>
            <a:ext cx="274320" cy="274320"/>
          </a:xfrm>
          <a:prstGeom prst="rect">
            <a:avLst/>
          </a:prstGeom>
        </p:spPr>
      </p:pic>
      <p:sp>
        <p:nvSpPr>
          <p:cNvPr id="19" name="Text 14"/>
          <p:cNvSpPr txBox="1"/>
          <p:nvPr/>
        </p:nvSpPr>
        <p:spPr>
          <a:xfrm>
            <a:off x="5897880" y="3355848"/>
            <a:ext cx="2697480" cy="365760"/>
          </a:xfrm>
          <a:prstGeom prst="rect">
            <a:avLst/>
          </a:prstGeom>
          <a:noFill/>
          <a:ln/>
        </p:spPr>
        <p:txBody>
          <a:bodyPr wrap="square" lIns="0" tIns="0" rIns="0" bIns="0" rtlCol="0" anchor="ctr"/>
          <a:lstStyle/>
          <a:p>
            <a:pPr indent="0" marL="0">
              <a:buNone/>
            </a:pPr>
            <a:r>
              <a:rPr lang="en-US" sz="1600" b="1" dirty="0">
                <a:solidFill>
                  <a:srgbClr val="14213D"/>
                </a:solidFill>
              </a:rPr>
              <a:t>Made in Winterthur</a:t>
            </a:r>
            <a:endParaRPr lang="en-US" sz="1600" dirty="0"/>
          </a:p>
        </p:txBody>
      </p:sp>
      <p:sp>
        <p:nvSpPr>
          <p:cNvPr id="20" name="Text 15"/>
          <p:cNvSpPr txBox="1"/>
          <p:nvPr/>
        </p:nvSpPr>
        <p:spPr>
          <a:xfrm>
            <a:off x="5897880" y="3703320"/>
            <a:ext cx="2697480" cy="292608"/>
          </a:xfrm>
          <a:prstGeom prst="rect">
            <a:avLst/>
          </a:prstGeom>
          <a:noFill/>
          <a:ln/>
        </p:spPr>
        <p:txBody>
          <a:bodyPr wrap="square" lIns="0" tIns="0" rIns="0" bIns="0" rtlCol="0" anchor="ctr"/>
          <a:lstStyle/>
          <a:p>
            <a:pPr indent="0" marL="0">
              <a:buNone/>
            </a:pPr>
            <a:r>
              <a:rPr lang="en-US" sz="1200" dirty="0">
                <a:solidFill>
                  <a:srgbClr val="5B6474"/>
                </a:solidFill>
              </a:rPr>
              <a:t>nur Konzentrat wird transportiert</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Zwei Kundengruppen, zwei Wege</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Albin</a:t>
            </a:r>
            <a:endParaRPr lang="en-US" sz="1000" dirty="0"/>
          </a:p>
        </p:txBody>
      </p:sp>
      <p:sp>
        <p:nvSpPr>
          <p:cNvPr id="4" name="Spalte 0"/>
          <p:cNvSpPr/>
          <p:nvPr/>
        </p:nvSpPr>
        <p:spPr>
          <a:xfrm>
            <a:off x="457200" y="1143000"/>
            <a:ext cx="4023360" cy="3246120"/>
          </a:xfrm>
          <a:prstGeom prst="roundRect">
            <a:avLst>
              <a:gd name="adj" fmla="val 2817"/>
            </a:avLst>
          </a:prstGeom>
          <a:solidFill>
            <a:srgbClr val="E8F1FB"/>
          </a:solidFill>
          <a:ln w="12700">
            <a:solidFill>
              <a:srgbClr val="E8F1FB"/>
            </a:solidFill>
            <a:prstDash val="solid"/>
          </a:ln>
        </p:spPr>
      </p:sp>
      <p:sp>
        <p:nvSpPr>
          <p:cNvPr id="5" name="Spalte 0 Kreis"/>
          <p:cNvSpPr/>
          <p:nvPr/>
        </p:nvSpPr>
        <p:spPr>
          <a:xfrm>
            <a:off x="685800" y="1325880"/>
            <a:ext cx="566928" cy="566928"/>
          </a:xfrm>
          <a:prstGeom prst="ellipse">
            <a:avLst/>
          </a:prstGeom>
          <a:solidFill>
            <a:srgbClr val="1F5FA8"/>
          </a:solidFill>
          <a:ln w="12700">
            <a:solidFill>
              <a:srgbClr val="1F5FA8"/>
            </a:solidFill>
            <a:prstDash val="solid"/>
          </a:ln>
        </p:spPr>
      </p:sp>
      <p:pic>
        <p:nvPicPr>
          <p:cNvPr id="6" name="Spalte 0 Icon" descr="preencoded.png">    </p:cNvPr>
          <p:cNvPicPr>
            <a:picLocks noChangeAspect="1"/>
          </p:cNvPicPr>
          <p:nvPr/>
        </p:nvPicPr>
        <p:blipFill>
          <a:blip r:embed="rId1"/>
          <a:stretch>
            <a:fillRect/>
          </a:stretch>
        </p:blipFill>
        <p:spPr>
          <a:xfrm>
            <a:off x="827532" y="1467612"/>
            <a:ext cx="283464" cy="283464"/>
          </a:xfrm>
          <a:prstGeom prst="rect">
            <a:avLst/>
          </a:prstGeom>
        </p:spPr>
      </p:pic>
      <p:sp>
        <p:nvSpPr>
          <p:cNvPr id="7" name="Text 4"/>
          <p:cNvSpPr txBox="1"/>
          <p:nvPr/>
        </p:nvSpPr>
        <p:spPr>
          <a:xfrm>
            <a:off x="1371600" y="1389888"/>
            <a:ext cx="2971800" cy="438912"/>
          </a:xfrm>
          <a:prstGeom prst="rect">
            <a:avLst/>
          </a:prstGeom>
          <a:noFill/>
          <a:ln/>
        </p:spPr>
        <p:txBody>
          <a:bodyPr wrap="square" lIns="0" tIns="0" rIns="0" bIns="0" rtlCol="0" anchor="ctr"/>
          <a:lstStyle/>
          <a:p>
            <a:pPr indent="0" marL="0">
              <a:buNone/>
            </a:pPr>
            <a:r>
              <a:rPr lang="en-US" sz="1800" b="1" dirty="0">
                <a:solidFill>
                  <a:srgbClr val="14213D"/>
                </a:solidFill>
              </a:rPr>
              <a:t>Privatkundschaft (B2C)</a:t>
            </a:r>
            <a:endParaRPr lang="en-US" sz="1800" dirty="0"/>
          </a:p>
        </p:txBody>
      </p:sp>
      <p:sp>
        <p:nvSpPr>
          <p:cNvPr id="8" name="Text 5"/>
          <p:cNvSpPr txBox="1"/>
          <p:nvPr/>
        </p:nvSpPr>
        <p:spPr>
          <a:xfrm>
            <a:off x="731520" y="2057400"/>
            <a:ext cx="356616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4213D"/>
                </a:solidFill>
              </a:rPr>
              <a:t>Autofans und Familien</a:t>
            </a:r>
            <a:endParaRPr lang="en-US" sz="1400" dirty="0"/>
          </a:p>
          <a:p>
            <a:pPr marL="342900" indent="-342900">
              <a:spcAft>
                <a:spcPts val="600"/>
              </a:spcAft>
              <a:buSzPct val="100000"/>
              <a:buChar char="•"/>
            </a:pPr>
            <a:r>
              <a:rPr lang="en-US" sz="1400" dirty="0">
                <a:solidFill>
                  <a:srgbClr val="14213D"/>
                </a:solidFill>
              </a:rPr>
              <a:t>kaufen selbständig im Webshop</a:t>
            </a:r>
            <a:endParaRPr lang="en-US" sz="1400" dirty="0"/>
          </a:p>
          <a:p>
            <a:pPr marL="342900" indent="-342900">
              <a:spcAft>
                <a:spcPts val="600"/>
              </a:spcAft>
              <a:buSzPct val="100000"/>
              <a:buChar char="•"/>
            </a:pPr>
            <a:r>
              <a:rPr lang="en-US" sz="1400" dirty="0">
                <a:solidFill>
                  <a:srgbClr val="14213D"/>
                </a:solidFill>
              </a:rPr>
              <a:t>Einstieg über Set «Starter» für CHF 69.–</a:t>
            </a:r>
            <a:endParaRPr lang="en-US" sz="1400" dirty="0"/>
          </a:p>
          <a:p>
            <a:pPr marL="342900" indent="-342900">
              <a:spcAft>
                <a:spcPts val="600"/>
              </a:spcAft>
              <a:buSzPct val="100000"/>
              <a:buChar char="•"/>
            </a:pPr>
            <a:r>
              <a:rPr lang="en-US" sz="1400" dirty="0">
                <a:solidFill>
                  <a:srgbClr val="14213D"/>
                </a:solidFill>
              </a:rPr>
              <a:t>Bindung über das Nachfüll-Abo</a:t>
            </a:r>
            <a:endParaRPr lang="en-US" sz="1400" dirty="0"/>
          </a:p>
        </p:txBody>
      </p:sp>
      <p:sp>
        <p:nvSpPr>
          <p:cNvPr id="9" name="Text 6"/>
          <p:cNvSpPr txBox="1"/>
          <p:nvPr/>
        </p:nvSpPr>
        <p:spPr>
          <a:xfrm>
            <a:off x="731520" y="3858768"/>
            <a:ext cx="3566160" cy="347472"/>
          </a:xfrm>
          <a:prstGeom prst="rect">
            <a:avLst/>
          </a:prstGeom>
          <a:noFill/>
          <a:ln/>
        </p:spPr>
        <p:txBody>
          <a:bodyPr wrap="square" lIns="0" tIns="0" rIns="0" bIns="0" rtlCol="0" anchor="ctr"/>
          <a:lstStyle/>
          <a:p>
            <a:pPr indent="0" marL="0">
              <a:buNone/>
            </a:pPr>
            <a:r>
              <a:rPr lang="en-US" sz="1200" b="1" dirty="0">
                <a:solidFill>
                  <a:srgbClr val="1F5FA8"/>
                </a:solidFill>
              </a:rPr>
              <a:t>Webshop → Verkauf → Lager</a:t>
            </a:r>
            <a:endParaRPr lang="en-US" sz="1200" dirty="0"/>
          </a:p>
        </p:txBody>
      </p:sp>
      <p:sp>
        <p:nvSpPr>
          <p:cNvPr id="10" name="Spalte 1"/>
          <p:cNvSpPr/>
          <p:nvPr/>
        </p:nvSpPr>
        <p:spPr>
          <a:xfrm>
            <a:off x="4663440" y="1143000"/>
            <a:ext cx="4023360" cy="3246120"/>
          </a:xfrm>
          <a:prstGeom prst="roundRect">
            <a:avLst>
              <a:gd name="adj" fmla="val 2817"/>
            </a:avLst>
          </a:prstGeom>
          <a:solidFill>
            <a:srgbClr val="E6F4EC"/>
          </a:solidFill>
          <a:ln w="12700">
            <a:solidFill>
              <a:srgbClr val="E6F4EC"/>
            </a:solidFill>
            <a:prstDash val="solid"/>
          </a:ln>
        </p:spPr>
      </p:sp>
      <p:sp>
        <p:nvSpPr>
          <p:cNvPr id="11" name="Spalte 1 Kreis"/>
          <p:cNvSpPr/>
          <p:nvPr/>
        </p:nvSpPr>
        <p:spPr>
          <a:xfrm>
            <a:off x="4892040" y="1325880"/>
            <a:ext cx="566928" cy="566928"/>
          </a:xfrm>
          <a:prstGeom prst="ellipse">
            <a:avLst/>
          </a:prstGeom>
          <a:solidFill>
            <a:srgbClr val="1D7A4C"/>
          </a:solidFill>
          <a:ln w="12700">
            <a:solidFill>
              <a:srgbClr val="1D7A4C"/>
            </a:solidFill>
            <a:prstDash val="solid"/>
          </a:ln>
        </p:spPr>
      </p:sp>
      <p:pic>
        <p:nvPicPr>
          <p:cNvPr id="12" name="Spalte 1 Icon" descr="preencoded.png">    </p:cNvPr>
          <p:cNvPicPr>
            <a:picLocks noChangeAspect="1"/>
          </p:cNvPicPr>
          <p:nvPr/>
        </p:nvPicPr>
        <p:blipFill>
          <a:blip r:embed="rId2"/>
          <a:stretch>
            <a:fillRect/>
          </a:stretch>
        </p:blipFill>
        <p:spPr>
          <a:xfrm>
            <a:off x="5033772" y="1467612"/>
            <a:ext cx="283464" cy="283464"/>
          </a:xfrm>
          <a:prstGeom prst="rect">
            <a:avLst/>
          </a:prstGeom>
        </p:spPr>
      </p:pic>
      <p:sp>
        <p:nvSpPr>
          <p:cNvPr id="13" name="Text 9"/>
          <p:cNvSpPr txBox="1"/>
          <p:nvPr/>
        </p:nvSpPr>
        <p:spPr>
          <a:xfrm>
            <a:off x="5577840" y="1389888"/>
            <a:ext cx="2971800" cy="438912"/>
          </a:xfrm>
          <a:prstGeom prst="rect">
            <a:avLst/>
          </a:prstGeom>
          <a:noFill/>
          <a:ln/>
        </p:spPr>
        <p:txBody>
          <a:bodyPr wrap="square" lIns="0" tIns="0" rIns="0" bIns="0" rtlCol="0" anchor="ctr"/>
          <a:lstStyle/>
          <a:p>
            <a:pPr indent="0" marL="0">
              <a:buNone/>
            </a:pPr>
            <a:r>
              <a:rPr lang="en-US" sz="1800" b="1" dirty="0">
                <a:solidFill>
                  <a:srgbClr val="14213D"/>
                </a:solidFill>
              </a:rPr>
              <a:t>Betriebe (B2B)</a:t>
            </a:r>
            <a:endParaRPr lang="en-US" sz="1800" dirty="0"/>
          </a:p>
        </p:txBody>
      </p:sp>
      <p:sp>
        <p:nvSpPr>
          <p:cNvPr id="14" name="Text 10"/>
          <p:cNvSpPr txBox="1"/>
          <p:nvPr/>
        </p:nvSpPr>
        <p:spPr>
          <a:xfrm>
            <a:off x="4937760" y="2057400"/>
            <a:ext cx="3566160" cy="16002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14213D"/>
                </a:solidFill>
              </a:rPr>
              <a:t>Garagen, Waschanlagen, Detailer</a:t>
            </a:r>
            <a:endParaRPr lang="en-US" sz="1400" dirty="0"/>
          </a:p>
          <a:p>
            <a:pPr marL="342900" indent="-342900">
              <a:spcAft>
                <a:spcPts val="600"/>
              </a:spcAft>
              <a:buSzPct val="100000"/>
              <a:buChar char="•"/>
            </a:pPr>
            <a:r>
              <a:rPr lang="en-US" sz="1400" dirty="0">
                <a:solidFill>
                  <a:srgbClr val="14213D"/>
                </a:solidFill>
              </a:rPr>
              <a:t>persönliche Betreuung im CRM</a:t>
            </a:r>
            <a:endParaRPr lang="en-US" sz="1400" dirty="0"/>
          </a:p>
          <a:p>
            <a:pPr marL="342900" indent="-342900">
              <a:spcAft>
                <a:spcPts val="600"/>
              </a:spcAft>
              <a:buSzPct val="100000"/>
              <a:buChar char="•"/>
            </a:pPr>
            <a:r>
              <a:rPr lang="en-US" sz="1400" dirty="0">
                <a:solidFill>
                  <a:srgbClr val="14213D"/>
                </a:solidFill>
              </a:rPr>
              <a:t>Musterset, dann Angebot mit Preisliste</a:t>
            </a:r>
            <a:endParaRPr lang="en-US" sz="1400" dirty="0"/>
          </a:p>
          <a:p>
            <a:pPr marL="342900" indent="-342900">
              <a:spcAft>
                <a:spcPts val="600"/>
              </a:spcAft>
              <a:buSzPct val="100000"/>
              <a:buChar char="•"/>
            </a:pPr>
            <a:r>
              <a:rPr lang="en-US" sz="1400" dirty="0">
                <a:solidFill>
                  <a:srgbClr val="14213D"/>
                </a:solidFill>
              </a:rPr>
              <a:t>5- und 20-Liter-Kanister mit Pfand</a:t>
            </a:r>
            <a:endParaRPr lang="en-US" sz="1400" dirty="0"/>
          </a:p>
        </p:txBody>
      </p:sp>
      <p:sp>
        <p:nvSpPr>
          <p:cNvPr id="15" name="Text 11"/>
          <p:cNvSpPr txBox="1"/>
          <p:nvPr/>
        </p:nvSpPr>
        <p:spPr>
          <a:xfrm>
            <a:off x="4937760" y="3858768"/>
            <a:ext cx="3566160" cy="347472"/>
          </a:xfrm>
          <a:prstGeom prst="rect">
            <a:avLst/>
          </a:prstGeom>
          <a:noFill/>
          <a:ln/>
        </p:spPr>
        <p:txBody>
          <a:bodyPr wrap="square" lIns="0" tIns="0" rIns="0" bIns="0" rtlCol="0" anchor="ctr"/>
          <a:lstStyle/>
          <a:p>
            <a:pPr indent="0" marL="0">
              <a:buNone/>
            </a:pPr>
            <a:r>
              <a:rPr lang="en-US" sz="1200" b="1" dirty="0">
                <a:solidFill>
                  <a:srgbClr val="1D7A4C"/>
                </a:solidFill>
              </a:rPr>
              <a:t>CRM → Angebot → Verkauf → Lager</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Prozesslandkarte (WKD)</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Albin</a:t>
            </a:r>
            <a:endParaRPr lang="en-US" sz="1000" dirty="0"/>
          </a:p>
        </p:txBody>
      </p:sp>
      <p:pic>
        <p:nvPicPr>
          <p:cNvPr id="4" name="prozesslandkarte.png" descr="/home/claude/work/plan/fig/prozesslandkarte.png">    </p:cNvPr>
          <p:cNvPicPr>
            <a:picLocks noChangeAspect="1"/>
          </p:cNvPicPr>
          <p:nvPr/>
        </p:nvPicPr>
        <p:blipFill>
          <a:blip r:embed="rId1"/>
          <a:stretch>
            <a:fillRect/>
          </a:stretch>
        </p:blipFill>
        <p:spPr>
          <a:xfrm>
            <a:off x="1427672" y="914400"/>
            <a:ext cx="6288657" cy="3703320"/>
          </a:xfrm>
          <a:prstGeom prst="rect">
            <a:avLst/>
          </a:prstGeom>
        </p:spPr>
      </p:pic>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BPMN 1: Online-Bestellung abwickeln</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Albin</a:t>
            </a:r>
            <a:endParaRPr lang="en-US" sz="1000" dirty="0"/>
          </a:p>
        </p:txBody>
      </p:sp>
      <p:pic>
        <p:nvPicPr>
          <p:cNvPr id="4" name="1_Webshop.png" descr="/home/claude/work/plan/bpmn/1_Webshop.png">    </p:cNvPr>
          <p:cNvPicPr>
            <a:picLocks noChangeAspect="1"/>
          </p:cNvPicPr>
          <p:nvPr/>
        </p:nvPicPr>
        <p:blipFill>
          <a:blip r:embed="rId1"/>
          <a:stretch>
            <a:fillRect/>
          </a:stretch>
        </p:blipFill>
        <p:spPr>
          <a:xfrm>
            <a:off x="457200" y="960120"/>
            <a:ext cx="8229600" cy="2886373"/>
          </a:xfrm>
          <a:prstGeom prst="rect">
            <a:avLst/>
          </a:prstGeom>
        </p:spPr>
      </p:pic>
      <p:sp>
        <p:nvSpPr>
          <p:cNvPr id="5" name="Text 2"/>
          <p:cNvSpPr txBox="1"/>
          <p:nvPr/>
        </p:nvSpPr>
        <p:spPr>
          <a:xfrm>
            <a:off x="457200" y="3983653"/>
            <a:ext cx="8229600" cy="457200"/>
          </a:xfrm>
          <a:prstGeom prst="rect">
            <a:avLst/>
          </a:prstGeom>
          <a:noFill/>
          <a:ln/>
        </p:spPr>
        <p:txBody>
          <a:bodyPr wrap="square" lIns="0" tIns="0" rIns="0" bIns="0" rtlCol="0" anchor="ctr"/>
          <a:lstStyle/>
          <a:p>
            <a:pPr indent="0" marL="0">
              <a:buNone/>
            </a:pPr>
            <a:r>
              <a:rPr lang="en-US" sz="1200" b="1" dirty="0">
                <a:solidFill>
                  <a:srgbClr val="1F5FA8"/>
                </a:solidFill>
              </a:rPr>
              <a:t>Auftrag bis Zahlungseingang</a:t>
            </a:r>
            <a:pPr indent="0" marL="0">
              <a:buNone/>
            </a:pPr>
            <a:r>
              <a:rPr lang="en-US" sz="1200" dirty="0">
                <a:solidFill>
                  <a:srgbClr val="14213D"/>
                </a:solidFill>
              </a:rPr>
              <a:t>  ·  Odoo legt den Auftrag selbst an (Zahnrad)  ·  Lager und Buchhaltung arbeiten parallel (UND-Gateway)  ·  fehlt Ware, startet die Produktion (Teilprozess)</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BPMN 2: Rohstoffe beschaffen</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Cem</a:t>
            </a:r>
            <a:endParaRPr lang="en-US" sz="1000" dirty="0"/>
          </a:p>
        </p:txBody>
      </p:sp>
      <p:pic>
        <p:nvPicPr>
          <p:cNvPr id="4" name="2_Beschaffung.png" descr="/home/claude/work/plan/bpmn/2_Beschaffung.png">    </p:cNvPr>
          <p:cNvPicPr>
            <a:picLocks noChangeAspect="1"/>
          </p:cNvPicPr>
          <p:nvPr/>
        </p:nvPicPr>
        <p:blipFill>
          <a:blip r:embed="rId1"/>
          <a:stretch>
            <a:fillRect/>
          </a:stretch>
        </p:blipFill>
        <p:spPr>
          <a:xfrm>
            <a:off x="457200" y="960120"/>
            <a:ext cx="8229600" cy="2511315"/>
          </a:xfrm>
          <a:prstGeom prst="rect">
            <a:avLst/>
          </a:prstGeom>
        </p:spPr>
      </p:pic>
      <p:sp>
        <p:nvSpPr>
          <p:cNvPr id="5" name="Text 2"/>
          <p:cNvSpPr txBox="1"/>
          <p:nvPr/>
        </p:nvSpPr>
        <p:spPr>
          <a:xfrm>
            <a:off x="457200" y="3608595"/>
            <a:ext cx="8229600" cy="457200"/>
          </a:xfrm>
          <a:prstGeom prst="rect">
            <a:avLst/>
          </a:prstGeom>
          <a:noFill/>
          <a:ln/>
        </p:spPr>
        <p:txBody>
          <a:bodyPr wrap="square" lIns="0" tIns="0" rIns="0" bIns="0" rtlCol="0" anchor="ctr"/>
          <a:lstStyle/>
          <a:p>
            <a:pPr indent="0" marL="0">
              <a:buNone/>
            </a:pPr>
            <a:r>
              <a:rPr lang="en-US" sz="1200" b="1" dirty="0">
                <a:solidFill>
                  <a:srgbClr val="B5600F"/>
                </a:solidFill>
              </a:rPr>
              <a:t>Bestellung bis Bezahlung</a:t>
            </a:r>
            <a:pPr indent="0" marL="0">
              <a:buNone/>
            </a:pPr>
            <a:r>
              <a:rPr lang="en-US" sz="1200" dirty="0">
                <a:solidFill>
                  <a:srgbClr val="14213D"/>
                </a:solidFill>
              </a:rPr>
              <a:t>  ·  Nachbestellregel löst die Anfrage automatisch aus  ·  Prüfschleife bei mangelhafter Lieferung  ·  Rechnung wird mit Bestellung und Wareneingang abgeglichen</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BPMN 3: Charge herstellen und abfüllen</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Cem</a:t>
            </a:r>
            <a:endParaRPr lang="en-US" sz="1000" dirty="0"/>
          </a:p>
        </p:txBody>
      </p:sp>
      <p:pic>
        <p:nvPicPr>
          <p:cNvPr id="4" name="3_Produktion.png" descr="/home/claude/work/plan/bpmn/3_Produktion.png">    </p:cNvPr>
          <p:cNvPicPr>
            <a:picLocks noChangeAspect="1"/>
          </p:cNvPicPr>
          <p:nvPr/>
        </p:nvPicPr>
        <p:blipFill>
          <a:blip r:embed="rId1"/>
          <a:stretch>
            <a:fillRect/>
          </a:stretch>
        </p:blipFill>
        <p:spPr>
          <a:xfrm>
            <a:off x="457200" y="960120"/>
            <a:ext cx="8229600" cy="2597144"/>
          </a:xfrm>
          <a:prstGeom prst="rect">
            <a:avLst/>
          </a:prstGeom>
        </p:spPr>
      </p:pic>
      <p:sp>
        <p:nvSpPr>
          <p:cNvPr id="5" name="Text 2"/>
          <p:cNvSpPr txBox="1"/>
          <p:nvPr/>
        </p:nvSpPr>
        <p:spPr>
          <a:xfrm>
            <a:off x="457200" y="3694424"/>
            <a:ext cx="8229600" cy="457200"/>
          </a:xfrm>
          <a:prstGeom prst="rect">
            <a:avLst/>
          </a:prstGeom>
          <a:noFill/>
          <a:ln/>
        </p:spPr>
        <p:txBody>
          <a:bodyPr wrap="square" lIns="0" tIns="0" rIns="0" bIns="0" rtlCol="0" anchor="ctr"/>
          <a:lstStyle/>
          <a:p>
            <a:pPr indent="0" marL="0">
              <a:buNone/>
            </a:pPr>
            <a:r>
              <a:rPr lang="en-US" sz="1200" b="1" dirty="0">
                <a:solidFill>
                  <a:srgbClr val="B5600F"/>
                </a:solidFill>
              </a:rPr>
              <a:t>Rezeptur als Stückliste</a:t>
            </a:r>
            <a:pPr indent="0" marL="0">
              <a:buNone/>
            </a:pPr>
            <a:r>
              <a:rPr lang="en-US" sz="1200" dirty="0">
                <a:solidFill>
                  <a:srgbClr val="14213D"/>
                </a:solidFill>
              </a:rPr>
              <a:t>  ·  200 Liter Shampoo = 400 Flaschen  ·  Qualitätsprüfung mit Schleife  ·  jede Flasche erhält Charge und Haltbarkeitsdatum</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Neu gegenüber dem Scale-Up-Case</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Cem</a:t>
            </a:r>
            <a:endParaRPr lang="en-US" sz="1000" dirty="0"/>
          </a:p>
        </p:txBody>
      </p:sp>
      <p:sp>
        <p:nvSpPr>
          <p:cNvPr id="4" name="Neu 0"/>
          <p:cNvSpPr/>
          <p:nvPr/>
        </p:nvSpPr>
        <p:spPr>
          <a:xfrm>
            <a:off x="457200" y="1143000"/>
            <a:ext cx="2615184" cy="1508760"/>
          </a:xfrm>
          <a:prstGeom prst="roundRect">
            <a:avLst>
              <a:gd name="adj" fmla="val 4848"/>
            </a:avLst>
          </a:prstGeom>
          <a:solidFill>
            <a:srgbClr val="FDF0E3"/>
          </a:solidFill>
          <a:ln w="12700">
            <a:solidFill>
              <a:srgbClr val="FDF0E3"/>
            </a:solidFill>
            <a:prstDash val="solid"/>
          </a:ln>
        </p:spPr>
      </p:sp>
      <p:sp>
        <p:nvSpPr>
          <p:cNvPr id="5" name="Neu 0 Kreis"/>
          <p:cNvSpPr/>
          <p:nvPr/>
        </p:nvSpPr>
        <p:spPr>
          <a:xfrm>
            <a:off x="640080" y="1325880"/>
            <a:ext cx="502920" cy="502920"/>
          </a:xfrm>
          <a:prstGeom prst="ellipse">
            <a:avLst/>
          </a:prstGeom>
          <a:solidFill>
            <a:srgbClr val="B5600F"/>
          </a:solidFill>
          <a:ln w="12700">
            <a:solidFill>
              <a:srgbClr val="B5600F"/>
            </a:solidFill>
            <a:prstDash val="solid"/>
          </a:ln>
        </p:spPr>
      </p:sp>
      <p:pic>
        <p:nvPicPr>
          <p:cNvPr id="6" name="Neu 0 Icon" descr="preencoded.png">    </p:cNvPr>
          <p:cNvPicPr>
            <a:picLocks noChangeAspect="1"/>
          </p:cNvPicPr>
          <p:nvPr/>
        </p:nvPicPr>
        <p:blipFill>
          <a:blip r:embed="rId1"/>
          <a:stretch>
            <a:fillRect/>
          </a:stretch>
        </p:blipFill>
        <p:spPr>
          <a:xfrm>
            <a:off x="765810" y="1451610"/>
            <a:ext cx="251460" cy="251460"/>
          </a:xfrm>
          <a:prstGeom prst="rect">
            <a:avLst/>
          </a:prstGeom>
        </p:spPr>
      </p:pic>
      <p:sp>
        <p:nvSpPr>
          <p:cNvPr id="7" name="Text 4"/>
          <p:cNvSpPr txBox="1"/>
          <p:nvPr/>
        </p:nvSpPr>
        <p:spPr>
          <a:xfrm>
            <a:off x="640080" y="1920240"/>
            <a:ext cx="2286000" cy="320040"/>
          </a:xfrm>
          <a:prstGeom prst="rect">
            <a:avLst/>
          </a:prstGeom>
          <a:noFill/>
          <a:ln/>
        </p:spPr>
        <p:txBody>
          <a:bodyPr wrap="square" lIns="0" tIns="0" rIns="0" bIns="0" rtlCol="0" anchor="ctr"/>
          <a:lstStyle/>
          <a:p>
            <a:pPr indent="0" marL="0">
              <a:buNone/>
            </a:pPr>
            <a:r>
              <a:rPr lang="en-US" sz="1500" b="1" dirty="0">
                <a:solidFill>
                  <a:srgbClr val="14213D"/>
                </a:solidFill>
              </a:rPr>
              <a:t>Rezeptur statt Bauteile</a:t>
            </a:r>
            <a:endParaRPr lang="en-US" sz="1500" dirty="0"/>
          </a:p>
        </p:txBody>
      </p:sp>
      <p:sp>
        <p:nvSpPr>
          <p:cNvPr id="8" name="Text 5"/>
          <p:cNvSpPr txBox="1"/>
          <p:nvPr/>
        </p:nvSpPr>
        <p:spPr>
          <a:xfrm>
            <a:off x="640080" y="2221992"/>
            <a:ext cx="2286000" cy="365760"/>
          </a:xfrm>
          <a:prstGeom prst="rect">
            <a:avLst/>
          </a:prstGeom>
          <a:noFill/>
          <a:ln/>
        </p:spPr>
        <p:txBody>
          <a:bodyPr wrap="square" lIns="0" tIns="0" rIns="0" bIns="0" rtlCol="0" anchor="t"/>
          <a:lstStyle/>
          <a:p>
            <a:pPr indent="0" marL="0">
              <a:buNone/>
            </a:pPr>
            <a:r>
              <a:rPr lang="en-US" sz="1200" dirty="0">
                <a:solidFill>
                  <a:srgbClr val="5B6474"/>
                </a:solidFill>
              </a:rPr>
              <a:t>Stückliste in kg und g, Fertigung in Chargen</a:t>
            </a:r>
            <a:endParaRPr lang="en-US" sz="1200" dirty="0"/>
          </a:p>
        </p:txBody>
      </p:sp>
      <p:sp>
        <p:nvSpPr>
          <p:cNvPr id="9" name="Neu 1"/>
          <p:cNvSpPr/>
          <p:nvPr/>
        </p:nvSpPr>
        <p:spPr>
          <a:xfrm>
            <a:off x="3264408" y="1143000"/>
            <a:ext cx="2615184" cy="1508760"/>
          </a:xfrm>
          <a:prstGeom prst="roundRect">
            <a:avLst>
              <a:gd name="adj" fmla="val 4848"/>
            </a:avLst>
          </a:prstGeom>
          <a:solidFill>
            <a:srgbClr val="FDF0E3"/>
          </a:solidFill>
          <a:ln w="12700">
            <a:solidFill>
              <a:srgbClr val="FDF0E3"/>
            </a:solidFill>
            <a:prstDash val="solid"/>
          </a:ln>
        </p:spPr>
      </p:sp>
      <p:sp>
        <p:nvSpPr>
          <p:cNvPr id="10" name="Neu 1 Kreis"/>
          <p:cNvSpPr/>
          <p:nvPr/>
        </p:nvSpPr>
        <p:spPr>
          <a:xfrm>
            <a:off x="3447288" y="1325880"/>
            <a:ext cx="502920" cy="502920"/>
          </a:xfrm>
          <a:prstGeom prst="ellipse">
            <a:avLst/>
          </a:prstGeom>
          <a:solidFill>
            <a:srgbClr val="B5600F"/>
          </a:solidFill>
          <a:ln w="12700">
            <a:solidFill>
              <a:srgbClr val="B5600F"/>
            </a:solidFill>
            <a:prstDash val="solid"/>
          </a:ln>
        </p:spPr>
      </p:sp>
      <p:pic>
        <p:nvPicPr>
          <p:cNvPr id="11" name="Neu 1 Icon" descr="preencoded.png">    </p:cNvPr>
          <p:cNvPicPr>
            <a:picLocks noChangeAspect="1"/>
          </p:cNvPicPr>
          <p:nvPr/>
        </p:nvPicPr>
        <p:blipFill>
          <a:blip r:embed="rId2"/>
          <a:stretch>
            <a:fillRect/>
          </a:stretch>
        </p:blipFill>
        <p:spPr>
          <a:xfrm>
            <a:off x="3573018" y="1451610"/>
            <a:ext cx="251460" cy="251460"/>
          </a:xfrm>
          <a:prstGeom prst="rect">
            <a:avLst/>
          </a:prstGeom>
        </p:spPr>
      </p:pic>
      <p:sp>
        <p:nvSpPr>
          <p:cNvPr id="12" name="Text 8"/>
          <p:cNvSpPr txBox="1"/>
          <p:nvPr/>
        </p:nvSpPr>
        <p:spPr>
          <a:xfrm>
            <a:off x="3447288" y="1920240"/>
            <a:ext cx="2286000" cy="320040"/>
          </a:xfrm>
          <a:prstGeom prst="rect">
            <a:avLst/>
          </a:prstGeom>
          <a:noFill/>
          <a:ln/>
        </p:spPr>
        <p:txBody>
          <a:bodyPr wrap="square" lIns="0" tIns="0" rIns="0" bIns="0" rtlCol="0" anchor="ctr"/>
          <a:lstStyle/>
          <a:p>
            <a:pPr indent="0" marL="0">
              <a:buNone/>
            </a:pPr>
            <a:r>
              <a:rPr lang="en-US" sz="1500" b="1" dirty="0">
                <a:solidFill>
                  <a:srgbClr val="14213D"/>
                </a:solidFill>
              </a:rPr>
              <a:t>Charge und MHD</a:t>
            </a:r>
            <a:endParaRPr lang="en-US" sz="1500" dirty="0"/>
          </a:p>
        </p:txBody>
      </p:sp>
      <p:sp>
        <p:nvSpPr>
          <p:cNvPr id="13" name="Text 9"/>
          <p:cNvSpPr txBox="1"/>
          <p:nvPr/>
        </p:nvSpPr>
        <p:spPr>
          <a:xfrm>
            <a:off x="3447288" y="2221992"/>
            <a:ext cx="2286000" cy="365760"/>
          </a:xfrm>
          <a:prstGeom prst="rect">
            <a:avLst/>
          </a:prstGeom>
          <a:noFill/>
          <a:ln/>
        </p:spPr>
        <p:txBody>
          <a:bodyPr wrap="square" lIns="0" tIns="0" rIns="0" bIns="0" rtlCol="0" anchor="t"/>
          <a:lstStyle/>
          <a:p>
            <a:pPr indent="0" marL="0">
              <a:buNone/>
            </a:pPr>
            <a:r>
              <a:rPr lang="en-US" sz="1200" dirty="0">
                <a:solidFill>
                  <a:srgbClr val="5B6474"/>
                </a:solidFill>
              </a:rPr>
              <a:t>Rückverfolgung, Auslieferung nach FEFO</a:t>
            </a:r>
            <a:endParaRPr lang="en-US" sz="1200" dirty="0"/>
          </a:p>
        </p:txBody>
      </p:sp>
      <p:sp>
        <p:nvSpPr>
          <p:cNvPr id="14" name="Neu 2"/>
          <p:cNvSpPr/>
          <p:nvPr/>
        </p:nvSpPr>
        <p:spPr>
          <a:xfrm>
            <a:off x="6071616" y="1143000"/>
            <a:ext cx="2615184" cy="1508760"/>
          </a:xfrm>
          <a:prstGeom prst="roundRect">
            <a:avLst>
              <a:gd name="adj" fmla="val 4848"/>
            </a:avLst>
          </a:prstGeom>
          <a:solidFill>
            <a:srgbClr val="FDF0E3"/>
          </a:solidFill>
          <a:ln w="12700">
            <a:solidFill>
              <a:srgbClr val="FDF0E3"/>
            </a:solidFill>
            <a:prstDash val="solid"/>
          </a:ln>
        </p:spPr>
      </p:sp>
      <p:sp>
        <p:nvSpPr>
          <p:cNvPr id="15" name="Neu 2 Kreis"/>
          <p:cNvSpPr/>
          <p:nvPr/>
        </p:nvSpPr>
        <p:spPr>
          <a:xfrm>
            <a:off x="6254496" y="1325880"/>
            <a:ext cx="502920" cy="502920"/>
          </a:xfrm>
          <a:prstGeom prst="ellipse">
            <a:avLst/>
          </a:prstGeom>
          <a:solidFill>
            <a:srgbClr val="B5600F"/>
          </a:solidFill>
          <a:ln w="12700">
            <a:solidFill>
              <a:srgbClr val="B5600F"/>
            </a:solidFill>
            <a:prstDash val="solid"/>
          </a:ln>
        </p:spPr>
      </p:sp>
      <p:pic>
        <p:nvPicPr>
          <p:cNvPr id="16" name="Neu 2 Icon" descr="preencoded.png">    </p:cNvPr>
          <p:cNvPicPr>
            <a:picLocks noChangeAspect="1"/>
          </p:cNvPicPr>
          <p:nvPr/>
        </p:nvPicPr>
        <p:blipFill>
          <a:blip r:embed="rId3"/>
          <a:stretch>
            <a:fillRect/>
          </a:stretch>
        </p:blipFill>
        <p:spPr>
          <a:xfrm>
            <a:off x="6380226" y="1451610"/>
            <a:ext cx="251460" cy="251460"/>
          </a:xfrm>
          <a:prstGeom prst="rect">
            <a:avLst/>
          </a:prstGeom>
        </p:spPr>
      </p:pic>
      <p:sp>
        <p:nvSpPr>
          <p:cNvPr id="17" name="Text 12"/>
          <p:cNvSpPr txBox="1"/>
          <p:nvPr/>
        </p:nvSpPr>
        <p:spPr>
          <a:xfrm>
            <a:off x="6254496" y="1920240"/>
            <a:ext cx="2286000" cy="320040"/>
          </a:xfrm>
          <a:prstGeom prst="rect">
            <a:avLst/>
          </a:prstGeom>
          <a:noFill/>
          <a:ln/>
        </p:spPr>
        <p:txBody>
          <a:bodyPr wrap="square" lIns="0" tIns="0" rIns="0" bIns="0" rtlCol="0" anchor="ctr"/>
          <a:lstStyle/>
          <a:p>
            <a:pPr indent="0" marL="0">
              <a:buNone/>
            </a:pPr>
            <a:r>
              <a:rPr lang="en-US" sz="1500" b="1" dirty="0">
                <a:solidFill>
                  <a:srgbClr val="14213D"/>
                </a:solidFill>
              </a:rPr>
              <a:t>Mehrere Einheiten</a:t>
            </a:r>
            <a:endParaRPr lang="en-US" sz="1500" dirty="0"/>
          </a:p>
        </p:txBody>
      </p:sp>
      <p:sp>
        <p:nvSpPr>
          <p:cNvPr id="18" name="Text 13"/>
          <p:cNvSpPr txBox="1"/>
          <p:nvPr/>
        </p:nvSpPr>
        <p:spPr>
          <a:xfrm>
            <a:off x="6254496" y="2221992"/>
            <a:ext cx="2286000" cy="365760"/>
          </a:xfrm>
          <a:prstGeom prst="rect">
            <a:avLst/>
          </a:prstGeom>
          <a:noFill/>
          <a:ln/>
        </p:spPr>
        <p:txBody>
          <a:bodyPr wrap="square" lIns="0" tIns="0" rIns="0" bIns="0" rtlCol="0" anchor="t"/>
          <a:lstStyle/>
          <a:p>
            <a:pPr indent="0" marL="0">
              <a:buNone/>
            </a:pPr>
            <a:r>
              <a:rPr lang="en-US" sz="1200" dirty="0">
                <a:solidFill>
                  <a:srgbClr val="5B6474"/>
                </a:solidFill>
              </a:rPr>
              <a:t>Fass, Kilogramm, Flasche, Kanister</a:t>
            </a:r>
            <a:endParaRPr lang="en-US" sz="1200" dirty="0"/>
          </a:p>
        </p:txBody>
      </p:sp>
      <p:sp>
        <p:nvSpPr>
          <p:cNvPr id="19" name="Neu 3"/>
          <p:cNvSpPr/>
          <p:nvPr/>
        </p:nvSpPr>
        <p:spPr>
          <a:xfrm>
            <a:off x="457200" y="2834640"/>
            <a:ext cx="2615184" cy="1508760"/>
          </a:xfrm>
          <a:prstGeom prst="roundRect">
            <a:avLst>
              <a:gd name="adj" fmla="val 4848"/>
            </a:avLst>
          </a:prstGeom>
          <a:solidFill>
            <a:srgbClr val="FDF0E3"/>
          </a:solidFill>
          <a:ln w="12700">
            <a:solidFill>
              <a:srgbClr val="FDF0E3"/>
            </a:solidFill>
            <a:prstDash val="solid"/>
          </a:ln>
        </p:spPr>
      </p:sp>
      <p:sp>
        <p:nvSpPr>
          <p:cNvPr id="20" name="Neu 3 Kreis"/>
          <p:cNvSpPr/>
          <p:nvPr/>
        </p:nvSpPr>
        <p:spPr>
          <a:xfrm>
            <a:off x="640080" y="3017520"/>
            <a:ext cx="502920" cy="502920"/>
          </a:xfrm>
          <a:prstGeom prst="ellipse">
            <a:avLst/>
          </a:prstGeom>
          <a:solidFill>
            <a:srgbClr val="B5600F"/>
          </a:solidFill>
          <a:ln w="12700">
            <a:solidFill>
              <a:srgbClr val="B5600F"/>
            </a:solidFill>
            <a:prstDash val="solid"/>
          </a:ln>
        </p:spPr>
      </p:sp>
      <p:pic>
        <p:nvPicPr>
          <p:cNvPr id="21" name="Neu 3 Icon" descr="preencoded.png">    </p:cNvPr>
          <p:cNvPicPr>
            <a:picLocks noChangeAspect="1"/>
          </p:cNvPicPr>
          <p:nvPr/>
        </p:nvPicPr>
        <p:blipFill>
          <a:blip r:embed="rId4"/>
          <a:stretch>
            <a:fillRect/>
          </a:stretch>
        </p:blipFill>
        <p:spPr>
          <a:xfrm>
            <a:off x="765810" y="3143250"/>
            <a:ext cx="251460" cy="251460"/>
          </a:xfrm>
          <a:prstGeom prst="rect">
            <a:avLst/>
          </a:prstGeom>
        </p:spPr>
      </p:pic>
      <p:sp>
        <p:nvSpPr>
          <p:cNvPr id="22" name="Text 16"/>
          <p:cNvSpPr txBox="1"/>
          <p:nvPr/>
        </p:nvSpPr>
        <p:spPr>
          <a:xfrm>
            <a:off x="640080" y="3611880"/>
            <a:ext cx="2286000" cy="320040"/>
          </a:xfrm>
          <a:prstGeom prst="rect">
            <a:avLst/>
          </a:prstGeom>
          <a:noFill/>
          <a:ln/>
        </p:spPr>
        <p:txBody>
          <a:bodyPr wrap="square" lIns="0" tIns="0" rIns="0" bIns="0" rtlCol="0" anchor="ctr"/>
          <a:lstStyle/>
          <a:p>
            <a:pPr indent="0" marL="0">
              <a:buNone/>
            </a:pPr>
            <a:r>
              <a:rPr lang="en-US" sz="1500" b="1" dirty="0">
                <a:solidFill>
                  <a:srgbClr val="14213D"/>
                </a:solidFill>
              </a:rPr>
              <a:t>Nachfüll-Abo</a:t>
            </a:r>
            <a:endParaRPr lang="en-US" sz="1500" dirty="0"/>
          </a:p>
        </p:txBody>
      </p:sp>
      <p:sp>
        <p:nvSpPr>
          <p:cNvPr id="23" name="Text 17"/>
          <p:cNvSpPr txBox="1"/>
          <p:nvPr/>
        </p:nvSpPr>
        <p:spPr>
          <a:xfrm>
            <a:off x="640080" y="3913632"/>
            <a:ext cx="2286000" cy="365760"/>
          </a:xfrm>
          <a:prstGeom prst="rect">
            <a:avLst/>
          </a:prstGeom>
          <a:noFill/>
          <a:ln/>
        </p:spPr>
        <p:txBody>
          <a:bodyPr wrap="square" lIns="0" tIns="0" rIns="0" bIns="0" rtlCol="0" anchor="t"/>
          <a:lstStyle/>
          <a:p>
            <a:pPr indent="0" marL="0">
              <a:buNone/>
            </a:pPr>
            <a:r>
              <a:rPr lang="en-US" sz="1200" dirty="0">
                <a:solidFill>
                  <a:srgbClr val="5B6474"/>
                </a:solidFill>
              </a:rPr>
              <a:t>Odoo erzeugt alle 3 Monate einen Auftrag</a:t>
            </a:r>
            <a:endParaRPr lang="en-US" sz="1200" dirty="0"/>
          </a:p>
        </p:txBody>
      </p:sp>
      <p:sp>
        <p:nvSpPr>
          <p:cNvPr id="24" name="Neu 4"/>
          <p:cNvSpPr/>
          <p:nvPr/>
        </p:nvSpPr>
        <p:spPr>
          <a:xfrm>
            <a:off x="3264408" y="2834640"/>
            <a:ext cx="2615184" cy="1508760"/>
          </a:xfrm>
          <a:prstGeom prst="roundRect">
            <a:avLst>
              <a:gd name="adj" fmla="val 4848"/>
            </a:avLst>
          </a:prstGeom>
          <a:solidFill>
            <a:srgbClr val="FDF0E3"/>
          </a:solidFill>
          <a:ln w="12700">
            <a:solidFill>
              <a:srgbClr val="FDF0E3"/>
            </a:solidFill>
            <a:prstDash val="solid"/>
          </a:ln>
        </p:spPr>
      </p:sp>
      <p:sp>
        <p:nvSpPr>
          <p:cNvPr id="25" name="Neu 4 Kreis"/>
          <p:cNvSpPr/>
          <p:nvPr/>
        </p:nvSpPr>
        <p:spPr>
          <a:xfrm>
            <a:off x="3447288" y="3017520"/>
            <a:ext cx="502920" cy="502920"/>
          </a:xfrm>
          <a:prstGeom prst="ellipse">
            <a:avLst/>
          </a:prstGeom>
          <a:solidFill>
            <a:srgbClr val="B5600F"/>
          </a:solidFill>
          <a:ln w="12700">
            <a:solidFill>
              <a:srgbClr val="B5600F"/>
            </a:solidFill>
            <a:prstDash val="solid"/>
          </a:ln>
        </p:spPr>
      </p:sp>
      <p:pic>
        <p:nvPicPr>
          <p:cNvPr id="26" name="Neu 4 Icon" descr="preencoded.png">    </p:cNvPr>
          <p:cNvPicPr>
            <a:picLocks noChangeAspect="1"/>
          </p:cNvPicPr>
          <p:nvPr/>
        </p:nvPicPr>
        <p:blipFill>
          <a:blip r:embed="rId5"/>
          <a:stretch>
            <a:fillRect/>
          </a:stretch>
        </p:blipFill>
        <p:spPr>
          <a:xfrm>
            <a:off x="3573018" y="3143250"/>
            <a:ext cx="251460" cy="251460"/>
          </a:xfrm>
          <a:prstGeom prst="rect">
            <a:avLst/>
          </a:prstGeom>
        </p:spPr>
      </p:pic>
      <p:sp>
        <p:nvSpPr>
          <p:cNvPr id="27" name="Text 20"/>
          <p:cNvSpPr txBox="1"/>
          <p:nvPr/>
        </p:nvSpPr>
        <p:spPr>
          <a:xfrm>
            <a:off x="3447288" y="3611880"/>
            <a:ext cx="2286000" cy="320040"/>
          </a:xfrm>
          <a:prstGeom prst="rect">
            <a:avLst/>
          </a:prstGeom>
          <a:noFill/>
          <a:ln/>
        </p:spPr>
        <p:txBody>
          <a:bodyPr wrap="square" lIns="0" tIns="0" rIns="0" bIns="0" rtlCol="0" anchor="ctr"/>
          <a:lstStyle/>
          <a:p>
            <a:pPr indent="0" marL="0">
              <a:buNone/>
            </a:pPr>
            <a:r>
              <a:rPr lang="en-US" sz="1500" b="1" dirty="0">
                <a:solidFill>
                  <a:srgbClr val="14213D"/>
                </a:solidFill>
              </a:rPr>
              <a:t>B2C und B2B</a:t>
            </a:r>
            <a:endParaRPr lang="en-US" sz="1500" dirty="0"/>
          </a:p>
        </p:txBody>
      </p:sp>
      <p:sp>
        <p:nvSpPr>
          <p:cNvPr id="28" name="Text 21"/>
          <p:cNvSpPr txBox="1"/>
          <p:nvPr/>
        </p:nvSpPr>
        <p:spPr>
          <a:xfrm>
            <a:off x="3447288" y="3913632"/>
            <a:ext cx="2286000" cy="365760"/>
          </a:xfrm>
          <a:prstGeom prst="rect">
            <a:avLst/>
          </a:prstGeom>
          <a:noFill/>
          <a:ln/>
        </p:spPr>
        <p:txBody>
          <a:bodyPr wrap="square" lIns="0" tIns="0" rIns="0" bIns="0" rtlCol="0" anchor="t"/>
          <a:lstStyle/>
          <a:p>
            <a:pPr indent="0" marL="0">
              <a:buNone/>
            </a:pPr>
            <a:r>
              <a:rPr lang="en-US" sz="1200" dirty="0">
                <a:solidFill>
                  <a:srgbClr val="5B6474"/>
                </a:solidFill>
              </a:rPr>
              <a:t>Webshop und CRM in einem System</a:t>
            </a:r>
            <a:endParaRPr lang="en-US" sz="1200" dirty="0"/>
          </a:p>
        </p:txBody>
      </p:sp>
      <p:sp>
        <p:nvSpPr>
          <p:cNvPr id="29" name="Neu 5"/>
          <p:cNvSpPr/>
          <p:nvPr/>
        </p:nvSpPr>
        <p:spPr>
          <a:xfrm>
            <a:off x="6071616" y="2834640"/>
            <a:ext cx="2615184" cy="1508760"/>
          </a:xfrm>
          <a:prstGeom prst="roundRect">
            <a:avLst>
              <a:gd name="adj" fmla="val 4848"/>
            </a:avLst>
          </a:prstGeom>
          <a:solidFill>
            <a:srgbClr val="FDF0E3"/>
          </a:solidFill>
          <a:ln w="12700">
            <a:solidFill>
              <a:srgbClr val="FDF0E3"/>
            </a:solidFill>
            <a:prstDash val="solid"/>
          </a:ln>
        </p:spPr>
      </p:sp>
      <p:sp>
        <p:nvSpPr>
          <p:cNvPr id="30" name="Neu 5 Kreis"/>
          <p:cNvSpPr/>
          <p:nvPr/>
        </p:nvSpPr>
        <p:spPr>
          <a:xfrm>
            <a:off x="6254496" y="3017520"/>
            <a:ext cx="502920" cy="502920"/>
          </a:xfrm>
          <a:prstGeom prst="ellipse">
            <a:avLst/>
          </a:prstGeom>
          <a:solidFill>
            <a:srgbClr val="B5600F"/>
          </a:solidFill>
          <a:ln w="12700">
            <a:solidFill>
              <a:srgbClr val="B5600F"/>
            </a:solidFill>
            <a:prstDash val="solid"/>
          </a:ln>
        </p:spPr>
      </p:sp>
      <p:pic>
        <p:nvPicPr>
          <p:cNvPr id="31" name="Neu 5 Icon" descr="preencoded.png">    </p:cNvPr>
          <p:cNvPicPr>
            <a:picLocks noChangeAspect="1"/>
          </p:cNvPicPr>
          <p:nvPr/>
        </p:nvPicPr>
        <p:blipFill>
          <a:blip r:embed="rId6"/>
          <a:stretch>
            <a:fillRect/>
          </a:stretch>
        </p:blipFill>
        <p:spPr>
          <a:xfrm>
            <a:off x="6380226" y="3143250"/>
            <a:ext cx="251460" cy="251460"/>
          </a:xfrm>
          <a:prstGeom prst="rect">
            <a:avLst/>
          </a:prstGeom>
        </p:spPr>
      </p:pic>
      <p:sp>
        <p:nvSpPr>
          <p:cNvPr id="32" name="Text 24"/>
          <p:cNvSpPr txBox="1"/>
          <p:nvPr/>
        </p:nvSpPr>
        <p:spPr>
          <a:xfrm>
            <a:off x="6254496" y="3611880"/>
            <a:ext cx="2286000" cy="320040"/>
          </a:xfrm>
          <a:prstGeom prst="rect">
            <a:avLst/>
          </a:prstGeom>
          <a:noFill/>
          <a:ln/>
        </p:spPr>
        <p:txBody>
          <a:bodyPr wrap="square" lIns="0" tIns="0" rIns="0" bIns="0" rtlCol="0" anchor="ctr"/>
          <a:lstStyle/>
          <a:p>
            <a:pPr indent="0" marL="0">
              <a:buNone/>
            </a:pPr>
            <a:r>
              <a:rPr lang="en-US" sz="1500" b="1" dirty="0">
                <a:solidFill>
                  <a:srgbClr val="14213D"/>
                </a:solidFill>
              </a:rPr>
              <a:t>Pfand-Kanister</a:t>
            </a:r>
            <a:endParaRPr lang="en-US" sz="1500" dirty="0"/>
          </a:p>
        </p:txBody>
      </p:sp>
      <p:sp>
        <p:nvSpPr>
          <p:cNvPr id="33" name="Text 25"/>
          <p:cNvSpPr txBox="1"/>
          <p:nvPr/>
        </p:nvSpPr>
        <p:spPr>
          <a:xfrm>
            <a:off x="6254496" y="3913632"/>
            <a:ext cx="2286000" cy="365760"/>
          </a:xfrm>
          <a:prstGeom prst="rect">
            <a:avLst/>
          </a:prstGeom>
          <a:noFill/>
          <a:ln/>
        </p:spPr>
        <p:txBody>
          <a:bodyPr wrap="square" lIns="0" tIns="0" rIns="0" bIns="0" rtlCol="0" anchor="t"/>
          <a:lstStyle/>
          <a:p>
            <a:pPr indent="0" marL="0">
              <a:buNone/>
            </a:pPr>
            <a:r>
              <a:rPr lang="en-US" sz="1200" dirty="0">
                <a:solidFill>
                  <a:srgbClr val="5B6474"/>
                </a:solidFill>
              </a:rPr>
              <a:t>Rücknahme als Ausbaustufe</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BPMN 4: Firmenkunden gewinnen</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Leorat</a:t>
            </a:r>
            <a:endParaRPr lang="en-US" sz="1000" dirty="0"/>
          </a:p>
        </p:txBody>
      </p:sp>
      <p:pic>
        <p:nvPicPr>
          <p:cNvPr id="4" name="4_B2B.png" descr="/home/claude/work/plan/bpmn/4_B2B.png">    </p:cNvPr>
          <p:cNvPicPr>
            <a:picLocks noChangeAspect="1"/>
          </p:cNvPicPr>
          <p:nvPr/>
        </p:nvPicPr>
        <p:blipFill>
          <a:blip r:embed="rId1"/>
          <a:stretch>
            <a:fillRect/>
          </a:stretch>
        </p:blipFill>
        <p:spPr>
          <a:xfrm>
            <a:off x="534308" y="960120"/>
            <a:ext cx="8075384" cy="3017520"/>
          </a:xfrm>
          <a:prstGeom prst="rect">
            <a:avLst/>
          </a:prstGeom>
        </p:spPr>
      </p:pic>
      <p:sp>
        <p:nvSpPr>
          <p:cNvPr id="5" name="Text 2"/>
          <p:cNvSpPr txBox="1"/>
          <p:nvPr/>
        </p:nvSpPr>
        <p:spPr>
          <a:xfrm>
            <a:off x="457200" y="4114800"/>
            <a:ext cx="8229600" cy="457200"/>
          </a:xfrm>
          <a:prstGeom prst="rect">
            <a:avLst/>
          </a:prstGeom>
          <a:noFill/>
          <a:ln/>
        </p:spPr>
        <p:txBody>
          <a:bodyPr wrap="square" lIns="0" tIns="0" rIns="0" bIns="0" rtlCol="0" anchor="ctr"/>
          <a:lstStyle/>
          <a:p>
            <a:pPr indent="0" marL="0">
              <a:buNone/>
            </a:pPr>
            <a:r>
              <a:rPr lang="en-US" sz="1200" b="1" dirty="0">
                <a:solidFill>
                  <a:srgbClr val="1D7A4C"/>
                </a:solidFill>
              </a:rPr>
              <a:t>Angebot bis Auftrag</a:t>
            </a:r>
            <a:pPr indent="0" marL="0">
              <a:buNone/>
            </a:pPr>
            <a:r>
              <a:rPr lang="en-US" sz="1200" dirty="0">
                <a:solidFill>
                  <a:srgbClr val="14213D"/>
                </a:solidFill>
              </a:rPr>
              <a:t>  ·  Lead entsteht automatisch aus dem Formular  ·  Musterset vor dem Angebot  ·  ereignisbasiertes Gateway: Unterschrift oder 14 Tage ohne Antwort</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Geschäftsvorfall: Garage Huber AG</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Leorat</a:t>
            </a:r>
            <a:endParaRPr lang="en-US" sz="1000" dirty="0"/>
          </a:p>
        </p:txBody>
      </p:sp>
      <p:pic>
        <p:nvPicPr>
          <p:cNvPr id="4" name="geschaeftsvorfall.png" descr="/home/claude/work/plan/fig/geschaeftsvorfall.png">    </p:cNvPr>
          <p:cNvPicPr>
            <a:picLocks noChangeAspect="1"/>
          </p:cNvPicPr>
          <p:nvPr/>
        </p:nvPicPr>
        <p:blipFill>
          <a:blip r:embed="rId1"/>
          <a:stretch>
            <a:fillRect/>
          </a:stretch>
        </p:blipFill>
        <p:spPr>
          <a:xfrm>
            <a:off x="274320" y="1051560"/>
            <a:ext cx="8595360" cy="1492878"/>
          </a:xfrm>
          <a:prstGeom prst="rect">
            <a:avLst/>
          </a:prstGeom>
        </p:spPr>
      </p:pic>
      <p:sp>
        <p:nvSpPr>
          <p:cNvPr id="5" name="Text 2"/>
          <p:cNvSpPr txBox="1"/>
          <p:nvPr/>
        </p:nvSpPr>
        <p:spPr>
          <a:xfrm>
            <a:off x="457200" y="2773038"/>
            <a:ext cx="8229600" cy="822960"/>
          </a:xfrm>
          <a:prstGeom prst="rect">
            <a:avLst/>
          </a:prstGeom>
          <a:noFill/>
          <a:ln/>
        </p:spPr>
        <p:txBody>
          <a:bodyPr wrap="square" lIns="0" tIns="0" rIns="0" bIns="0" rtlCol="0" anchor="t"/>
          <a:lstStyle/>
          <a:p>
            <a:pPr indent="0" marL="0">
              <a:buNone/>
            </a:pPr>
            <a:r>
              <a:rPr lang="en-US" sz="1400" dirty="0">
                <a:solidFill>
                  <a:srgbClr val="14213D"/>
                </a:solidFill>
              </a:rPr>
              <a:t>Ein Auftrag über 12 Kanister läuft durch alle Bereiche in derselben Odoo-Datenbank: Lead, Angebot, Lieferung mit Teilmenge, Nachbestellung des Tensids, neue Charge, Restlieferung, Rechnung mit Zahlungserinnerung und zum Schluss das Saisonmailing.</a:t>
            </a:r>
            <a:endParaRPr lang="en-US" sz="14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6949440" cy="685800"/>
          </a:xfrm>
          <a:prstGeom prst="rect">
            <a:avLst/>
          </a:prstGeom>
          <a:noFill/>
          <a:ln/>
        </p:spPr>
        <p:txBody>
          <a:bodyPr wrap="square" lIns="0" tIns="0" rIns="0" bIns="0" rtlCol="0" anchor="t"/>
          <a:lstStyle/>
          <a:p>
            <a:pPr algn="l" indent="0" marL="0">
              <a:buNone/>
            </a:pPr>
            <a:r>
              <a:rPr lang="en-US" sz="2600" b="1" dirty="0">
                <a:solidFill>
                  <a:srgbClr val="14213D"/>
                </a:solidFill>
              </a:rPr>
              <a:t>Drei Sprints à vier Wochen</a:t>
            </a:r>
            <a:endParaRPr lang="en-US" sz="2600" dirty="0"/>
          </a:p>
        </p:txBody>
      </p:sp>
      <p:sp>
        <p:nvSpPr>
          <p:cNvPr id="3" name="Sprecher"/>
          <p:cNvSpPr txBox="1"/>
          <p:nvPr/>
        </p:nvSpPr>
        <p:spPr>
          <a:xfrm>
            <a:off x="6675120" y="292608"/>
            <a:ext cx="2011680" cy="274320"/>
          </a:xfrm>
          <a:prstGeom prst="rect">
            <a:avLst/>
          </a:prstGeom>
          <a:noFill/>
          <a:ln/>
        </p:spPr>
        <p:txBody>
          <a:bodyPr wrap="square" lIns="0" tIns="0" rIns="0" bIns="0" rtlCol="0" anchor="ctr"/>
          <a:lstStyle/>
          <a:p>
            <a:pPr algn="r" indent="0" marL="0">
              <a:buNone/>
            </a:pPr>
            <a:r>
              <a:rPr lang="en-US" sz="1000" i="1" dirty="0">
                <a:solidFill>
                  <a:srgbClr val="5B6474"/>
                </a:solidFill>
              </a:rPr>
              <a:t>Leorat</a:t>
            </a:r>
            <a:endParaRPr lang="en-US" sz="1000" dirty="0"/>
          </a:p>
        </p:txBody>
      </p:sp>
      <p:sp>
        <p:nvSpPr>
          <p:cNvPr id="4" name="Sprint 1"/>
          <p:cNvSpPr/>
          <p:nvPr/>
        </p:nvSpPr>
        <p:spPr>
          <a:xfrm>
            <a:off x="457200" y="1143000"/>
            <a:ext cx="2615184" cy="1691640"/>
          </a:xfrm>
          <a:prstGeom prst="roundRect">
            <a:avLst>
              <a:gd name="adj" fmla="val 4324"/>
            </a:avLst>
          </a:prstGeom>
          <a:solidFill>
            <a:srgbClr val="F3F4F6"/>
          </a:solidFill>
          <a:ln w="12700">
            <a:solidFill>
              <a:srgbClr val="5B6474"/>
            </a:solidFill>
            <a:prstDash val="solid"/>
          </a:ln>
        </p:spPr>
      </p:sp>
      <p:sp>
        <p:nvSpPr>
          <p:cNvPr id="5" name="Text 3"/>
          <p:cNvSpPr txBox="1"/>
          <p:nvPr/>
        </p:nvSpPr>
        <p:spPr>
          <a:xfrm>
            <a:off x="640080" y="1261872"/>
            <a:ext cx="1371600" cy="320040"/>
          </a:xfrm>
          <a:prstGeom prst="rect">
            <a:avLst/>
          </a:prstGeom>
          <a:noFill/>
          <a:ln/>
        </p:spPr>
        <p:txBody>
          <a:bodyPr wrap="square" lIns="0" tIns="0" rIns="0" bIns="0" rtlCol="0" anchor="ctr"/>
          <a:lstStyle/>
          <a:p>
            <a:pPr indent="0" marL="0">
              <a:buNone/>
            </a:pPr>
            <a:r>
              <a:rPr lang="en-US" sz="1600" b="1" dirty="0">
                <a:solidFill>
                  <a:srgbClr val="14213D"/>
                </a:solidFill>
              </a:rPr>
              <a:t>Sprint 1</a:t>
            </a:r>
            <a:endParaRPr lang="en-US" sz="1600" dirty="0"/>
          </a:p>
        </p:txBody>
      </p:sp>
      <p:sp>
        <p:nvSpPr>
          <p:cNvPr id="6" name="Text 4"/>
          <p:cNvSpPr txBox="1"/>
          <p:nvPr/>
        </p:nvSpPr>
        <p:spPr>
          <a:xfrm>
            <a:off x="2011680" y="1261872"/>
            <a:ext cx="868680" cy="320040"/>
          </a:xfrm>
          <a:prstGeom prst="rect">
            <a:avLst/>
          </a:prstGeom>
          <a:noFill/>
          <a:ln/>
        </p:spPr>
        <p:txBody>
          <a:bodyPr wrap="square" lIns="0" tIns="0" rIns="0" bIns="0" rtlCol="0" anchor="ctr"/>
          <a:lstStyle/>
          <a:p>
            <a:pPr algn="r" indent="0" marL="0">
              <a:buNone/>
            </a:pPr>
            <a:r>
              <a:rPr lang="en-US" sz="1200" dirty="0">
                <a:solidFill>
                  <a:srgbClr val="5B6474"/>
                </a:solidFill>
              </a:rPr>
              <a:t>SW 1–4</a:t>
            </a:r>
            <a:endParaRPr lang="en-US" sz="1200" dirty="0"/>
          </a:p>
        </p:txBody>
      </p:sp>
      <p:sp>
        <p:nvSpPr>
          <p:cNvPr id="7" name="Text 5"/>
          <p:cNvSpPr txBox="1"/>
          <p:nvPr/>
        </p:nvSpPr>
        <p:spPr>
          <a:xfrm>
            <a:off x="640080" y="1645920"/>
            <a:ext cx="2240280" cy="777240"/>
          </a:xfrm>
          <a:prstGeom prst="rect">
            <a:avLst/>
          </a:prstGeom>
          <a:noFill/>
          <a:ln/>
        </p:spPr>
        <p:txBody>
          <a:bodyPr wrap="square" lIns="0" tIns="0" rIns="0" bIns="0" rtlCol="0" anchor="t"/>
          <a:lstStyle/>
          <a:p>
            <a:pPr indent="0" marL="0">
              <a:buNone/>
            </a:pPr>
            <a:r>
              <a:rPr lang="en-US" sz="1300" dirty="0">
                <a:solidFill>
                  <a:srgbClr val="14213D"/>
                </a:solidFill>
              </a:rPr>
              <a:t>Team, Tools, Scale-Up-Case</a:t>
            </a:r>
            <a:endParaRPr lang="en-US" sz="1300" dirty="0"/>
          </a:p>
        </p:txBody>
      </p:sp>
      <p:sp>
        <p:nvSpPr>
          <p:cNvPr id="8" name="Text 6"/>
          <p:cNvSpPr txBox="1"/>
          <p:nvPr/>
        </p:nvSpPr>
        <p:spPr>
          <a:xfrm>
            <a:off x="640080" y="2468880"/>
            <a:ext cx="2240280" cy="274320"/>
          </a:xfrm>
          <a:prstGeom prst="rect">
            <a:avLst/>
          </a:prstGeom>
          <a:noFill/>
          <a:ln/>
        </p:spPr>
        <p:txBody>
          <a:bodyPr wrap="square" lIns="0" tIns="0" rIns="0" bIns="0" rtlCol="0" anchor="ctr"/>
          <a:lstStyle/>
          <a:p>
            <a:pPr indent="0" marL="0">
              <a:buNone/>
            </a:pPr>
            <a:r>
              <a:rPr lang="en-US" sz="1100" b="1" dirty="0">
                <a:solidFill>
                  <a:srgbClr val="5B6474"/>
                </a:solidFill>
              </a:rPr>
              <a:t>abgeschlossen</a:t>
            </a:r>
            <a:endParaRPr lang="en-US" sz="1100" dirty="0"/>
          </a:p>
        </p:txBody>
      </p:sp>
      <p:sp>
        <p:nvSpPr>
          <p:cNvPr id="9" name="Sprint 2"/>
          <p:cNvSpPr/>
          <p:nvPr/>
        </p:nvSpPr>
        <p:spPr>
          <a:xfrm>
            <a:off x="3264408" y="1143000"/>
            <a:ext cx="2615184" cy="1691640"/>
          </a:xfrm>
          <a:prstGeom prst="roundRect">
            <a:avLst>
              <a:gd name="adj" fmla="val 4324"/>
            </a:avLst>
          </a:prstGeom>
          <a:solidFill>
            <a:srgbClr val="E8F1FB"/>
          </a:solidFill>
          <a:ln w="25400">
            <a:solidFill>
              <a:srgbClr val="1F5FA8"/>
            </a:solidFill>
            <a:prstDash val="solid"/>
          </a:ln>
        </p:spPr>
      </p:sp>
      <p:sp>
        <p:nvSpPr>
          <p:cNvPr id="10" name="Text 8"/>
          <p:cNvSpPr txBox="1"/>
          <p:nvPr/>
        </p:nvSpPr>
        <p:spPr>
          <a:xfrm>
            <a:off x="3447288" y="1261872"/>
            <a:ext cx="1371600" cy="320040"/>
          </a:xfrm>
          <a:prstGeom prst="rect">
            <a:avLst/>
          </a:prstGeom>
          <a:noFill/>
          <a:ln/>
        </p:spPr>
        <p:txBody>
          <a:bodyPr wrap="square" lIns="0" tIns="0" rIns="0" bIns="0" rtlCol="0" anchor="ctr"/>
          <a:lstStyle/>
          <a:p>
            <a:pPr indent="0" marL="0">
              <a:buNone/>
            </a:pPr>
            <a:r>
              <a:rPr lang="en-US" sz="1600" b="1" dirty="0">
                <a:solidFill>
                  <a:srgbClr val="14213D"/>
                </a:solidFill>
              </a:rPr>
              <a:t>Sprint 2</a:t>
            </a:r>
            <a:endParaRPr lang="en-US" sz="1600" dirty="0"/>
          </a:p>
        </p:txBody>
      </p:sp>
      <p:sp>
        <p:nvSpPr>
          <p:cNvPr id="11" name="Text 9"/>
          <p:cNvSpPr txBox="1"/>
          <p:nvPr/>
        </p:nvSpPr>
        <p:spPr>
          <a:xfrm>
            <a:off x="4818888" y="1261872"/>
            <a:ext cx="868680" cy="320040"/>
          </a:xfrm>
          <a:prstGeom prst="rect">
            <a:avLst/>
          </a:prstGeom>
          <a:noFill/>
          <a:ln/>
        </p:spPr>
        <p:txBody>
          <a:bodyPr wrap="square" lIns="0" tIns="0" rIns="0" bIns="0" rtlCol="0" anchor="ctr"/>
          <a:lstStyle/>
          <a:p>
            <a:pPr algn="r" indent="0" marL="0">
              <a:buNone/>
            </a:pPr>
            <a:r>
              <a:rPr lang="en-US" sz="1200" dirty="0">
                <a:solidFill>
                  <a:srgbClr val="5B6474"/>
                </a:solidFill>
              </a:rPr>
              <a:t>SW 5–8</a:t>
            </a:r>
            <a:endParaRPr lang="en-US" sz="1200" dirty="0"/>
          </a:p>
        </p:txBody>
      </p:sp>
      <p:sp>
        <p:nvSpPr>
          <p:cNvPr id="12" name="Text 10"/>
          <p:cNvSpPr txBox="1"/>
          <p:nvPr/>
        </p:nvSpPr>
        <p:spPr>
          <a:xfrm>
            <a:off x="3447288" y="1645920"/>
            <a:ext cx="2240280" cy="777240"/>
          </a:xfrm>
          <a:prstGeom prst="rect">
            <a:avLst/>
          </a:prstGeom>
          <a:noFill/>
          <a:ln/>
        </p:spPr>
        <p:txBody>
          <a:bodyPr wrap="square" lIns="0" tIns="0" rIns="0" bIns="0" rtlCol="0" anchor="t"/>
          <a:lstStyle/>
          <a:p>
            <a:pPr indent="0" marL="0">
              <a:buNone/>
            </a:pPr>
            <a:r>
              <a:rPr lang="en-US" sz="1300" dirty="0">
                <a:solidFill>
                  <a:srgbClr val="14213D"/>
                </a:solidFill>
              </a:rPr>
              <a:t>Idee, BPMN, Planung, Gruppeninstanz, Grundkonfiguration</a:t>
            </a:r>
            <a:endParaRPr lang="en-US" sz="1300" dirty="0"/>
          </a:p>
        </p:txBody>
      </p:sp>
      <p:sp>
        <p:nvSpPr>
          <p:cNvPr id="13" name="Text 11"/>
          <p:cNvSpPr txBox="1"/>
          <p:nvPr/>
        </p:nvSpPr>
        <p:spPr>
          <a:xfrm>
            <a:off x="3447288" y="2468880"/>
            <a:ext cx="2240280" cy="274320"/>
          </a:xfrm>
          <a:prstGeom prst="rect">
            <a:avLst/>
          </a:prstGeom>
          <a:noFill/>
          <a:ln/>
        </p:spPr>
        <p:txBody>
          <a:bodyPr wrap="square" lIns="0" tIns="0" rIns="0" bIns="0" rtlCol="0" anchor="ctr"/>
          <a:lstStyle/>
          <a:p>
            <a:pPr indent="0" marL="0">
              <a:buNone/>
            </a:pPr>
            <a:r>
              <a:rPr lang="en-US" sz="1100" b="1" dirty="0">
                <a:solidFill>
                  <a:srgbClr val="1F5FA8"/>
                </a:solidFill>
              </a:rPr>
              <a:t>läuft</a:t>
            </a:r>
            <a:endParaRPr lang="en-US" sz="1100" dirty="0"/>
          </a:p>
        </p:txBody>
      </p:sp>
      <p:sp>
        <p:nvSpPr>
          <p:cNvPr id="14" name="Sprint 3"/>
          <p:cNvSpPr/>
          <p:nvPr/>
        </p:nvSpPr>
        <p:spPr>
          <a:xfrm>
            <a:off x="6071616" y="1143000"/>
            <a:ext cx="2615184" cy="1691640"/>
          </a:xfrm>
          <a:prstGeom prst="roundRect">
            <a:avLst>
              <a:gd name="adj" fmla="val 4324"/>
            </a:avLst>
          </a:prstGeom>
          <a:solidFill>
            <a:srgbClr val="F3F4F6"/>
          </a:solidFill>
          <a:ln w="12700">
            <a:solidFill>
              <a:srgbClr val="14213D"/>
            </a:solidFill>
            <a:prstDash val="solid"/>
          </a:ln>
        </p:spPr>
      </p:sp>
      <p:sp>
        <p:nvSpPr>
          <p:cNvPr id="15" name="Text 13"/>
          <p:cNvSpPr txBox="1"/>
          <p:nvPr/>
        </p:nvSpPr>
        <p:spPr>
          <a:xfrm>
            <a:off x="6254496" y="1261872"/>
            <a:ext cx="1371600" cy="320040"/>
          </a:xfrm>
          <a:prstGeom prst="rect">
            <a:avLst/>
          </a:prstGeom>
          <a:noFill/>
          <a:ln/>
        </p:spPr>
        <p:txBody>
          <a:bodyPr wrap="square" lIns="0" tIns="0" rIns="0" bIns="0" rtlCol="0" anchor="ctr"/>
          <a:lstStyle/>
          <a:p>
            <a:pPr indent="0" marL="0">
              <a:buNone/>
            </a:pPr>
            <a:r>
              <a:rPr lang="en-US" sz="1600" b="1" dirty="0">
                <a:solidFill>
                  <a:srgbClr val="14213D"/>
                </a:solidFill>
              </a:rPr>
              <a:t>Sprint 3</a:t>
            </a:r>
            <a:endParaRPr lang="en-US" sz="1600" dirty="0"/>
          </a:p>
        </p:txBody>
      </p:sp>
      <p:sp>
        <p:nvSpPr>
          <p:cNvPr id="16" name="Text 14"/>
          <p:cNvSpPr txBox="1"/>
          <p:nvPr/>
        </p:nvSpPr>
        <p:spPr>
          <a:xfrm>
            <a:off x="7626096" y="1261872"/>
            <a:ext cx="868680" cy="320040"/>
          </a:xfrm>
          <a:prstGeom prst="rect">
            <a:avLst/>
          </a:prstGeom>
          <a:noFill/>
          <a:ln/>
        </p:spPr>
        <p:txBody>
          <a:bodyPr wrap="square" lIns="0" tIns="0" rIns="0" bIns="0" rtlCol="0" anchor="ctr"/>
          <a:lstStyle/>
          <a:p>
            <a:pPr algn="r" indent="0" marL="0">
              <a:buNone/>
            </a:pPr>
            <a:r>
              <a:rPr lang="en-US" sz="1200" dirty="0">
                <a:solidFill>
                  <a:srgbClr val="5B6474"/>
                </a:solidFill>
              </a:rPr>
              <a:t>SW 9–12</a:t>
            </a:r>
            <a:endParaRPr lang="en-US" sz="1200" dirty="0"/>
          </a:p>
        </p:txBody>
      </p:sp>
      <p:sp>
        <p:nvSpPr>
          <p:cNvPr id="17" name="Text 15"/>
          <p:cNvSpPr txBox="1"/>
          <p:nvPr/>
        </p:nvSpPr>
        <p:spPr>
          <a:xfrm>
            <a:off x="6254496" y="1645920"/>
            <a:ext cx="2240280" cy="777240"/>
          </a:xfrm>
          <a:prstGeom prst="rect">
            <a:avLst/>
          </a:prstGeom>
          <a:noFill/>
          <a:ln/>
        </p:spPr>
        <p:txBody>
          <a:bodyPr wrap="square" lIns="0" tIns="0" rIns="0" bIns="0" rtlCol="0" anchor="t"/>
          <a:lstStyle/>
          <a:p>
            <a:pPr indent="0" marL="0">
              <a:buNone/>
            </a:pPr>
            <a:r>
              <a:rPr lang="en-US" sz="1300" dirty="0">
                <a:solidFill>
                  <a:srgbClr val="14213D"/>
                </a:solidFill>
              </a:rPr>
              <a:t>Customizing, Geschäftsvorfall, Doku, Präsentation</a:t>
            </a:r>
            <a:endParaRPr lang="en-US" sz="1300" dirty="0"/>
          </a:p>
        </p:txBody>
      </p:sp>
      <p:sp>
        <p:nvSpPr>
          <p:cNvPr id="18" name="Text 16"/>
          <p:cNvSpPr txBox="1"/>
          <p:nvPr/>
        </p:nvSpPr>
        <p:spPr>
          <a:xfrm>
            <a:off x="6254496" y="2468880"/>
            <a:ext cx="2240280" cy="274320"/>
          </a:xfrm>
          <a:prstGeom prst="rect">
            <a:avLst/>
          </a:prstGeom>
          <a:noFill/>
          <a:ln/>
        </p:spPr>
        <p:txBody>
          <a:bodyPr wrap="square" lIns="0" tIns="0" rIns="0" bIns="0" rtlCol="0" anchor="ctr"/>
          <a:lstStyle/>
          <a:p>
            <a:pPr indent="0" marL="0">
              <a:buNone/>
            </a:pPr>
            <a:r>
              <a:rPr lang="en-US" sz="1100" b="1" dirty="0">
                <a:solidFill>
                  <a:srgbClr val="14213D"/>
                </a:solidFill>
              </a:rPr>
              <a:t>geplant</a:t>
            </a:r>
            <a:endParaRPr lang="en-US" sz="1100" dirty="0"/>
          </a:p>
        </p:txBody>
      </p:sp>
      <p:sp>
        <p:nvSpPr>
          <p:cNvPr id="19" name="Rolle 0 Kreis"/>
          <p:cNvSpPr/>
          <p:nvPr/>
        </p:nvSpPr>
        <p:spPr>
          <a:xfrm>
            <a:off x="457200" y="3154680"/>
            <a:ext cx="502920" cy="502920"/>
          </a:xfrm>
          <a:prstGeom prst="ellipse">
            <a:avLst/>
          </a:prstGeom>
          <a:solidFill>
            <a:srgbClr val="1F5FA8"/>
          </a:solidFill>
          <a:ln w="12700">
            <a:solidFill>
              <a:srgbClr val="1F5FA8"/>
            </a:solidFill>
            <a:prstDash val="solid"/>
          </a:ln>
        </p:spPr>
      </p:sp>
      <p:pic>
        <p:nvPicPr>
          <p:cNvPr id="20" name="Rolle 0 Icon" descr="preencoded.png">    </p:cNvPr>
          <p:cNvPicPr>
            <a:picLocks noChangeAspect="1"/>
          </p:cNvPicPr>
          <p:nvPr/>
        </p:nvPicPr>
        <p:blipFill>
          <a:blip r:embed="rId1"/>
          <a:stretch>
            <a:fillRect/>
          </a:stretch>
        </p:blipFill>
        <p:spPr>
          <a:xfrm>
            <a:off x="582930" y="3280410"/>
            <a:ext cx="251460" cy="251460"/>
          </a:xfrm>
          <a:prstGeom prst="rect">
            <a:avLst/>
          </a:prstGeom>
        </p:spPr>
      </p:pic>
      <p:sp>
        <p:nvSpPr>
          <p:cNvPr id="21" name="Text 18"/>
          <p:cNvSpPr txBox="1"/>
          <p:nvPr/>
        </p:nvSpPr>
        <p:spPr>
          <a:xfrm>
            <a:off x="1097280" y="3154680"/>
            <a:ext cx="2011680" cy="274320"/>
          </a:xfrm>
          <a:prstGeom prst="rect">
            <a:avLst/>
          </a:prstGeom>
          <a:noFill/>
          <a:ln/>
        </p:spPr>
        <p:txBody>
          <a:bodyPr wrap="square" lIns="0" tIns="0" rIns="0" bIns="0" rtlCol="0" anchor="ctr"/>
          <a:lstStyle/>
          <a:p>
            <a:pPr indent="0" marL="0">
              <a:buNone/>
            </a:pPr>
            <a:r>
              <a:rPr lang="en-US" sz="1400" b="1" dirty="0">
                <a:solidFill>
                  <a:srgbClr val="14213D"/>
                </a:solidFill>
              </a:rPr>
              <a:t>Albin</a:t>
            </a:r>
            <a:endParaRPr lang="en-US" sz="1400" dirty="0"/>
          </a:p>
        </p:txBody>
      </p:sp>
      <p:sp>
        <p:nvSpPr>
          <p:cNvPr id="22" name="Text 19"/>
          <p:cNvSpPr txBox="1"/>
          <p:nvPr/>
        </p:nvSpPr>
        <p:spPr>
          <a:xfrm>
            <a:off x="1097280" y="3429000"/>
            <a:ext cx="2011680" cy="274320"/>
          </a:xfrm>
          <a:prstGeom prst="rect">
            <a:avLst/>
          </a:prstGeom>
          <a:noFill/>
          <a:ln/>
        </p:spPr>
        <p:txBody>
          <a:bodyPr wrap="square" lIns="0" tIns="0" rIns="0" bIns="0" rtlCol="0" anchor="ctr"/>
          <a:lstStyle/>
          <a:p>
            <a:pPr indent="0" marL="0">
              <a:buNone/>
            </a:pPr>
            <a:r>
              <a:rPr lang="en-US" sz="1200" dirty="0">
                <a:solidFill>
                  <a:srgbClr val="5B6474"/>
                </a:solidFill>
              </a:rPr>
              <a:t>Sprint-Koordination, Weekly</a:t>
            </a:r>
            <a:endParaRPr lang="en-US" sz="1200" dirty="0"/>
          </a:p>
        </p:txBody>
      </p:sp>
      <p:sp>
        <p:nvSpPr>
          <p:cNvPr id="23" name="Rolle 1 Kreis"/>
          <p:cNvSpPr/>
          <p:nvPr/>
        </p:nvSpPr>
        <p:spPr>
          <a:xfrm>
            <a:off x="3264408" y="3154680"/>
            <a:ext cx="502920" cy="502920"/>
          </a:xfrm>
          <a:prstGeom prst="ellipse">
            <a:avLst/>
          </a:prstGeom>
          <a:solidFill>
            <a:srgbClr val="B5600F"/>
          </a:solidFill>
          <a:ln w="12700">
            <a:solidFill>
              <a:srgbClr val="B5600F"/>
            </a:solidFill>
            <a:prstDash val="solid"/>
          </a:ln>
        </p:spPr>
      </p:sp>
      <p:pic>
        <p:nvPicPr>
          <p:cNvPr id="24" name="Rolle 1 Icon" descr="preencoded.png">    </p:cNvPr>
          <p:cNvPicPr>
            <a:picLocks noChangeAspect="1"/>
          </p:cNvPicPr>
          <p:nvPr/>
        </p:nvPicPr>
        <p:blipFill>
          <a:blip r:embed="rId2"/>
          <a:stretch>
            <a:fillRect/>
          </a:stretch>
        </p:blipFill>
        <p:spPr>
          <a:xfrm>
            <a:off x="3390138" y="3280410"/>
            <a:ext cx="251460" cy="251460"/>
          </a:xfrm>
          <a:prstGeom prst="rect">
            <a:avLst/>
          </a:prstGeom>
        </p:spPr>
      </p:pic>
      <p:sp>
        <p:nvSpPr>
          <p:cNvPr id="25" name="Text 21"/>
          <p:cNvSpPr txBox="1"/>
          <p:nvPr/>
        </p:nvSpPr>
        <p:spPr>
          <a:xfrm>
            <a:off x="3904488" y="3154680"/>
            <a:ext cx="2011680" cy="274320"/>
          </a:xfrm>
          <a:prstGeom prst="rect">
            <a:avLst/>
          </a:prstGeom>
          <a:noFill/>
          <a:ln/>
        </p:spPr>
        <p:txBody>
          <a:bodyPr wrap="square" lIns="0" tIns="0" rIns="0" bIns="0" rtlCol="0" anchor="ctr"/>
          <a:lstStyle/>
          <a:p>
            <a:pPr indent="0" marL="0">
              <a:buNone/>
            </a:pPr>
            <a:r>
              <a:rPr lang="en-US" sz="1400" b="1" dirty="0">
                <a:solidFill>
                  <a:srgbClr val="14213D"/>
                </a:solidFill>
              </a:rPr>
              <a:t>Cem</a:t>
            </a:r>
            <a:endParaRPr lang="en-US" sz="1400" dirty="0"/>
          </a:p>
        </p:txBody>
      </p:sp>
      <p:sp>
        <p:nvSpPr>
          <p:cNvPr id="26" name="Text 22"/>
          <p:cNvSpPr txBox="1"/>
          <p:nvPr/>
        </p:nvSpPr>
        <p:spPr>
          <a:xfrm>
            <a:off x="3904488" y="3429000"/>
            <a:ext cx="2011680" cy="274320"/>
          </a:xfrm>
          <a:prstGeom prst="rect">
            <a:avLst/>
          </a:prstGeom>
          <a:noFill/>
          <a:ln/>
        </p:spPr>
        <p:txBody>
          <a:bodyPr wrap="square" lIns="0" tIns="0" rIns="0" bIns="0" rtlCol="0" anchor="ctr"/>
          <a:lstStyle/>
          <a:p>
            <a:pPr indent="0" marL="0">
              <a:buNone/>
            </a:pPr>
            <a:r>
              <a:rPr lang="en-US" sz="1200" dirty="0">
                <a:solidFill>
                  <a:srgbClr val="5B6474"/>
                </a:solidFill>
              </a:rPr>
              <a:t>Odoo-Administration, Protokoll</a:t>
            </a:r>
            <a:endParaRPr lang="en-US" sz="1200" dirty="0"/>
          </a:p>
        </p:txBody>
      </p:sp>
      <p:sp>
        <p:nvSpPr>
          <p:cNvPr id="27" name="Rolle 2 Kreis"/>
          <p:cNvSpPr/>
          <p:nvPr/>
        </p:nvSpPr>
        <p:spPr>
          <a:xfrm>
            <a:off x="6071616" y="3154680"/>
            <a:ext cx="502920" cy="502920"/>
          </a:xfrm>
          <a:prstGeom prst="ellipse">
            <a:avLst/>
          </a:prstGeom>
          <a:solidFill>
            <a:srgbClr val="1D7A4C"/>
          </a:solidFill>
          <a:ln w="12700">
            <a:solidFill>
              <a:srgbClr val="1D7A4C"/>
            </a:solidFill>
            <a:prstDash val="solid"/>
          </a:ln>
        </p:spPr>
      </p:sp>
      <p:pic>
        <p:nvPicPr>
          <p:cNvPr id="28" name="Rolle 2 Icon" descr="preencoded.png">    </p:cNvPr>
          <p:cNvPicPr>
            <a:picLocks noChangeAspect="1"/>
          </p:cNvPicPr>
          <p:nvPr/>
        </p:nvPicPr>
        <p:blipFill>
          <a:blip r:embed="rId3"/>
          <a:stretch>
            <a:fillRect/>
          </a:stretch>
        </p:blipFill>
        <p:spPr>
          <a:xfrm>
            <a:off x="6197346" y="3280410"/>
            <a:ext cx="251460" cy="251460"/>
          </a:xfrm>
          <a:prstGeom prst="rect">
            <a:avLst/>
          </a:prstGeom>
        </p:spPr>
      </p:pic>
      <p:sp>
        <p:nvSpPr>
          <p:cNvPr id="29" name="Text 24"/>
          <p:cNvSpPr txBox="1"/>
          <p:nvPr/>
        </p:nvSpPr>
        <p:spPr>
          <a:xfrm>
            <a:off x="6711696" y="3154680"/>
            <a:ext cx="2011680" cy="274320"/>
          </a:xfrm>
          <a:prstGeom prst="rect">
            <a:avLst/>
          </a:prstGeom>
          <a:noFill/>
          <a:ln/>
        </p:spPr>
        <p:txBody>
          <a:bodyPr wrap="square" lIns="0" tIns="0" rIns="0" bIns="0" rtlCol="0" anchor="ctr"/>
          <a:lstStyle/>
          <a:p>
            <a:pPr indent="0" marL="0">
              <a:buNone/>
            </a:pPr>
            <a:r>
              <a:rPr lang="en-US" sz="1400" b="1" dirty="0">
                <a:solidFill>
                  <a:srgbClr val="14213D"/>
                </a:solidFill>
              </a:rPr>
              <a:t>Leorat</a:t>
            </a:r>
            <a:endParaRPr lang="en-US" sz="1400" dirty="0"/>
          </a:p>
        </p:txBody>
      </p:sp>
      <p:sp>
        <p:nvSpPr>
          <p:cNvPr id="30" name="Text 25"/>
          <p:cNvSpPr txBox="1"/>
          <p:nvPr/>
        </p:nvSpPr>
        <p:spPr>
          <a:xfrm>
            <a:off x="6711696" y="3429000"/>
            <a:ext cx="2011680" cy="274320"/>
          </a:xfrm>
          <a:prstGeom prst="rect">
            <a:avLst/>
          </a:prstGeom>
          <a:noFill/>
          <a:ln/>
        </p:spPr>
        <p:txBody>
          <a:bodyPr wrap="square" lIns="0" tIns="0" rIns="0" bIns="0" rtlCol="0" anchor="ctr"/>
          <a:lstStyle/>
          <a:p>
            <a:pPr indent="0" marL="0">
              <a:buNone/>
            </a:pPr>
            <a:r>
              <a:rPr lang="en-US" sz="1200" dirty="0">
                <a:solidFill>
                  <a:srgbClr val="5B6474"/>
                </a:solidFill>
              </a:rPr>
              <a:t>Redaktion, Abgabe</a:t>
            </a:r>
            <a:endParaRPr lang="en-US" sz="1200" dirty="0"/>
          </a:p>
        </p:txBody>
      </p:sp>
      <p:sp>
        <p:nvSpPr>
          <p:cNvPr id="31" name="Text 26"/>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200" i="1" dirty="0">
                <a:solidFill>
                  <a:srgbClr val="1F5FA8"/>
                </a:solidFill>
              </a:rPr>
              <a:t>Weekly jeden Donnerstag, 60 Minuten · Aufgabe gilt erst als erledigt, wenn eine zweite Person sie geprüft hat · Odoo-Freeze am 27.11.</a:t>
            </a:r>
            <a:endParaRPr lang="en-US" sz="1200" dirty="0"/>
          </a:p>
        </p:txBody>
      </p:sp>
      <p:sp>
        <p:nvSpPr>
          <p:cNvPr id="25" name="Slide Number Placeholder 0"/>
          <p:cNvSpPr>
            <a:spLocks noGrp="1"/>
          </p:cNvSpPr>
          <p:nvPr>
            <p:ph type="sldNum" sz="quarter" idx="4294967295"/>
          </p:nvPr>
        </p:nvSpPr>
        <p:spPr>
          <a:xfrm>
            <a:off x="8229600" y="4718304"/>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4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85800" y="548640"/>
            <a:ext cx="7772400" cy="548640"/>
          </a:xfrm>
          <a:prstGeom prst="rect">
            <a:avLst/>
          </a:prstGeom>
          <a:noFill/>
          <a:ln/>
        </p:spPr>
        <p:txBody>
          <a:bodyPr wrap="square" lIns="0" tIns="0" rIns="0" bIns="0" rtlCol="0" anchor="ctr"/>
          <a:lstStyle/>
          <a:p>
            <a:pPr indent="0" marL="0">
              <a:buNone/>
            </a:pPr>
            <a:r>
              <a:rPr lang="en-US" sz="3000" b="1" dirty="0">
                <a:solidFill>
                  <a:srgbClr val="FFFFFF"/>
                </a:solidFill>
              </a:rPr>
              <a:t>Unsere offenen Fragen</a:t>
            </a:r>
            <a:endParaRPr lang="en-US" sz="3000" dirty="0"/>
          </a:p>
        </p:txBody>
      </p:sp>
      <p:sp>
        <p:nvSpPr>
          <p:cNvPr id="3" name="Frage 1"/>
          <p:cNvSpPr/>
          <p:nvPr/>
        </p:nvSpPr>
        <p:spPr>
          <a:xfrm>
            <a:off x="685800" y="1325880"/>
            <a:ext cx="457200" cy="457200"/>
          </a:xfrm>
          <a:prstGeom prst="ellipse">
            <a:avLst/>
          </a:prstGeom>
          <a:solidFill>
            <a:srgbClr val="2E78C7"/>
          </a:solidFill>
          <a:ln w="12700">
            <a:solidFill>
              <a:srgbClr val="2E78C7"/>
            </a:solidFill>
            <a:prstDash val="solid"/>
          </a:ln>
        </p:spPr>
      </p:sp>
      <p:sp>
        <p:nvSpPr>
          <p:cNvPr id="4" name="Text 2"/>
          <p:cNvSpPr txBox="1"/>
          <p:nvPr/>
        </p:nvSpPr>
        <p:spPr>
          <a:xfrm>
            <a:off x="68580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Text 3"/>
          <p:cNvSpPr txBox="1"/>
          <p:nvPr/>
        </p:nvSpPr>
        <p:spPr>
          <a:xfrm>
            <a:off x="1371600" y="1325880"/>
            <a:ext cx="7132320" cy="457200"/>
          </a:xfrm>
          <a:prstGeom prst="rect">
            <a:avLst/>
          </a:prstGeom>
          <a:noFill/>
          <a:ln/>
        </p:spPr>
        <p:txBody>
          <a:bodyPr wrap="square" lIns="0" tIns="0" rIns="0" bIns="0" rtlCol="0" anchor="ctr"/>
          <a:lstStyle/>
          <a:p>
            <a:pPr indent="0" marL="0">
              <a:buNone/>
            </a:pPr>
            <a:r>
              <a:rPr lang="en-US" sz="1600" dirty="0">
                <a:solidFill>
                  <a:srgbClr val="FFFFFF"/>
                </a:solidFill>
              </a:rPr>
              <a:t>Ist die App «Abonnements» in unserer Gruppeninstanz freigeschaltet?</a:t>
            </a:r>
            <a:endParaRPr lang="en-US" sz="1600" dirty="0"/>
          </a:p>
        </p:txBody>
      </p:sp>
      <p:sp>
        <p:nvSpPr>
          <p:cNvPr id="6" name="Frage 2"/>
          <p:cNvSpPr/>
          <p:nvPr/>
        </p:nvSpPr>
        <p:spPr>
          <a:xfrm>
            <a:off x="685800" y="2039112"/>
            <a:ext cx="457200" cy="457200"/>
          </a:xfrm>
          <a:prstGeom prst="ellipse">
            <a:avLst/>
          </a:prstGeom>
          <a:solidFill>
            <a:srgbClr val="2E78C7"/>
          </a:solidFill>
          <a:ln w="12700">
            <a:solidFill>
              <a:srgbClr val="2E78C7"/>
            </a:solidFill>
            <a:prstDash val="solid"/>
          </a:ln>
        </p:spPr>
      </p:sp>
      <p:sp>
        <p:nvSpPr>
          <p:cNvPr id="7" name="Text 5"/>
          <p:cNvSpPr txBox="1"/>
          <p:nvPr/>
        </p:nvSpPr>
        <p:spPr>
          <a:xfrm>
            <a:off x="685800" y="20391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8" name="Text 6"/>
          <p:cNvSpPr txBox="1"/>
          <p:nvPr/>
        </p:nvSpPr>
        <p:spPr>
          <a:xfrm>
            <a:off x="1371600" y="2039112"/>
            <a:ext cx="7132320" cy="457200"/>
          </a:xfrm>
          <a:prstGeom prst="rect">
            <a:avLst/>
          </a:prstGeom>
          <a:noFill/>
          <a:ln/>
        </p:spPr>
        <p:txBody>
          <a:bodyPr wrap="square" lIns="0" tIns="0" rIns="0" bIns="0" rtlCol="0" anchor="ctr"/>
          <a:lstStyle/>
          <a:p>
            <a:pPr indent="0" marL="0">
              <a:buNone/>
            </a:pPr>
            <a:r>
              <a:rPr lang="en-US" sz="1600" dirty="0">
                <a:solidFill>
                  <a:srgbClr val="FFFFFF"/>
                </a:solidFill>
              </a:rPr>
              <a:t>Reichen Chargen für die Fertigware, oder auch Rückverfolgung bis zum Rohstoff?</a:t>
            </a:r>
            <a:endParaRPr lang="en-US" sz="1600" dirty="0"/>
          </a:p>
        </p:txBody>
      </p:sp>
      <p:sp>
        <p:nvSpPr>
          <p:cNvPr id="9" name="Frage 3"/>
          <p:cNvSpPr/>
          <p:nvPr/>
        </p:nvSpPr>
        <p:spPr>
          <a:xfrm>
            <a:off x="685800" y="2752344"/>
            <a:ext cx="457200" cy="457200"/>
          </a:xfrm>
          <a:prstGeom prst="ellipse">
            <a:avLst/>
          </a:prstGeom>
          <a:solidFill>
            <a:srgbClr val="2E78C7"/>
          </a:solidFill>
          <a:ln w="12700">
            <a:solidFill>
              <a:srgbClr val="2E78C7"/>
            </a:solidFill>
            <a:prstDash val="solid"/>
          </a:ln>
        </p:spPr>
      </p:sp>
      <p:sp>
        <p:nvSpPr>
          <p:cNvPr id="10" name="Text 8"/>
          <p:cNvSpPr txBox="1"/>
          <p:nvPr/>
        </p:nvSpPr>
        <p:spPr>
          <a:xfrm>
            <a:off x="685800" y="27523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Text 9"/>
          <p:cNvSpPr txBox="1"/>
          <p:nvPr/>
        </p:nvSpPr>
        <p:spPr>
          <a:xfrm>
            <a:off x="1371600" y="2752344"/>
            <a:ext cx="7132320" cy="457200"/>
          </a:xfrm>
          <a:prstGeom prst="rect">
            <a:avLst/>
          </a:prstGeom>
          <a:noFill/>
          <a:ln/>
        </p:spPr>
        <p:txBody>
          <a:bodyPr wrap="square" lIns="0" tIns="0" rIns="0" bIns="0" rtlCol="0" anchor="ctr"/>
          <a:lstStyle/>
          <a:p>
            <a:pPr indent="0" marL="0">
              <a:buNone/>
            </a:pPr>
            <a:r>
              <a:rPr lang="en-US" sz="1600" dirty="0">
                <a:solidFill>
                  <a:srgbClr val="FFFFFF"/>
                </a:solidFill>
              </a:rPr>
              <a:t>Lohnt sich die Ausbaustufe Pfand-Kanister, oder lieber mehr Customizing?</a:t>
            </a:r>
            <a:endParaRPr lang="en-US" sz="1600" dirty="0"/>
          </a:p>
        </p:txBody>
      </p:sp>
      <p:sp>
        <p:nvSpPr>
          <p:cNvPr id="12" name="Frage 4"/>
          <p:cNvSpPr/>
          <p:nvPr/>
        </p:nvSpPr>
        <p:spPr>
          <a:xfrm>
            <a:off x="685800" y="3465576"/>
            <a:ext cx="457200" cy="457200"/>
          </a:xfrm>
          <a:prstGeom prst="ellipse">
            <a:avLst/>
          </a:prstGeom>
          <a:solidFill>
            <a:srgbClr val="2E78C7"/>
          </a:solidFill>
          <a:ln w="12700">
            <a:solidFill>
              <a:srgbClr val="2E78C7"/>
            </a:solidFill>
            <a:prstDash val="solid"/>
          </a:ln>
        </p:spPr>
      </p:sp>
      <p:sp>
        <p:nvSpPr>
          <p:cNvPr id="13" name="Text 11"/>
          <p:cNvSpPr txBox="1"/>
          <p:nvPr/>
        </p:nvSpPr>
        <p:spPr>
          <a:xfrm>
            <a:off x="685800" y="34655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4" name="Text 12"/>
          <p:cNvSpPr txBox="1"/>
          <p:nvPr/>
        </p:nvSpPr>
        <p:spPr>
          <a:xfrm>
            <a:off x="1371600" y="3465576"/>
            <a:ext cx="7132320" cy="457200"/>
          </a:xfrm>
          <a:prstGeom prst="rect">
            <a:avLst/>
          </a:prstGeom>
          <a:noFill/>
          <a:ln/>
        </p:spPr>
        <p:txBody>
          <a:bodyPr wrap="square" lIns="0" tIns="0" rIns="0" bIns="0" rtlCol="0" anchor="ctr"/>
          <a:lstStyle/>
          <a:p>
            <a:pPr indent="0" marL="0">
              <a:buNone/>
            </a:pPr>
            <a:r>
              <a:rPr lang="en-US" sz="1600" dirty="0">
                <a:solidFill>
                  <a:srgbClr val="FFFFFF"/>
                </a:solidFill>
              </a:rPr>
              <a:t>Reicht ein Geschäftsvorfall über einen Firmenkunden, oder muss der Webshop vorkommen?</a:t>
            </a:r>
            <a:endParaRPr lang="en-US" sz="1600" dirty="0"/>
          </a:p>
        </p:txBody>
      </p:sp>
      <p:sp>
        <p:nvSpPr>
          <p:cNvPr id="15" name="Text 13"/>
          <p:cNvSpPr txBox="1"/>
          <p:nvPr/>
        </p:nvSpPr>
        <p:spPr>
          <a:xfrm>
            <a:off x="685800" y="4297680"/>
            <a:ext cx="7772400" cy="365760"/>
          </a:xfrm>
          <a:prstGeom prst="rect">
            <a:avLst/>
          </a:prstGeom>
          <a:noFill/>
          <a:ln/>
        </p:spPr>
        <p:txBody>
          <a:bodyPr wrap="square" lIns="0" tIns="0" rIns="0" bIns="0" rtlCol="0" anchor="ctr"/>
          <a:lstStyle/>
          <a:p>
            <a:pPr indent="0" marL="0">
              <a:buNone/>
            </a:pPr>
            <a:r>
              <a:rPr lang="en-US" sz="1600" b="1" dirty="0">
                <a:solidFill>
                  <a:srgbClr val="9CCBF5"/>
                </a:solidFill>
              </a:rPr>
              <a:t>Danke! Habt ihr Fragen an uns?</a:t>
            </a:r>
            <a:endParaRPr lang="en-US" sz="1600" dirty="0"/>
          </a:p>
        </p:txBody>
      </p:sp>
    </p:spTree>
  </p:cSld>
  <p:clrMapOvr>
    <a:masterClrMapping/>
  </p:clrMapOvr>
</p:sld>
</file>

<file path=ppt/theme/theme1.xml><?xml version="1.0" encoding="utf-8"?>
<a:theme xmlns:a="http://schemas.openxmlformats.org/drawingml/2006/main" name="Perlwerk">
  <a:themeElements>
    <a:clrScheme name="Perlwerk">
      <a:dk1>
        <a:srgbClr val="14213D"/>
      </a:dk1>
      <a:lt1>
        <a:srgbClr val="FFFFFF"/>
      </a:lt1>
      <a:dk2>
        <a:srgbClr val="1F5FA8"/>
      </a:dk2>
      <a:lt2>
        <a:srgbClr val="EEF3F9"/>
      </a:lt2>
      <a:accent1>
        <a:srgbClr val="2E78C7"/>
      </a:accent1>
      <a:accent2>
        <a:srgbClr val="B5600F"/>
      </a:accent2>
      <a:accent3>
        <a:srgbClr val="1D7A4C"/>
      </a:accent3>
      <a:accent4>
        <a:srgbClr val="9CCBF5"/>
      </a:accent4>
      <a:accent5>
        <a:srgbClr val="5B6474"/>
      </a:accent5>
      <a:accent6>
        <a:srgbClr val="E8F1FB"/>
      </a:accent6>
      <a:hlink>
        <a:srgbClr val="1F5FA8"/>
      </a:hlink>
      <a:folHlink>
        <a:srgbClr val="5B6474"/>
      </a:folHlink>
    </a:clrScheme>
    <a:fontScheme name="Perlwe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Perlwerk GmbH – Planungsdokument</dc:title>
  <dc:subject>PptxGenJS Presentation</dc:subject>
  <dc:creator>Gruppe 04</dc:creator>
  <cp:lastModifiedBy>Gruppe 04</cp:lastModifiedBy>
  <cp:revision>1</cp:revision>
  <dcterms:created xsi:type="dcterms:W3CDTF">2026-10-17T22:00:09Z</dcterms:created>
  <dcterms:modified xsi:type="dcterms:W3CDTF">2026-10-17T22:00:09Z</dcterms:modified>
</cp:coreProperties>
</file>